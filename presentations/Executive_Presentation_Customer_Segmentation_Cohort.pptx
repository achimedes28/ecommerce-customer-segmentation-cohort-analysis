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5"/>
  </p:normalViewPr>
  <p:slideViewPr>
    <p:cSldViewPr snapToGrid="0" snapToObjects="1">
      <p:cViewPr varScale="1">
        <p:scale>
          <a:sx n="119" d="100"/>
          <a:sy n="119" d="100"/>
        </p:scale>
        <p:origin x="85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1188720"/>
            <a:ext cx="978408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000" b="1">
                <a:solidFill>
                  <a:srgbClr val="2563EB"/>
                </a:solidFill>
              </a:defRPr>
            </a:pPr>
            <a:r>
              <a:t>PORTFOLIO CASE STUDY • RETAIL &amp; E-COMMERCE ANALYTICS</a:t>
            </a:r>
          </a:p>
          <a:p>
            <a:pPr>
              <a:spcAft>
                <a:spcPts val="1000"/>
              </a:spcAft>
              <a:defRPr sz="3000" b="1">
                <a:solidFill>
                  <a:srgbClr val="0F172A"/>
                </a:solidFill>
              </a:defRPr>
            </a:pPr>
            <a:r>
              <a:t>Customer Segmentation &amp; Cohort Retention Optimization</a:t>
            </a:r>
          </a:p>
          <a:p>
            <a:pPr>
              <a:spcAft>
                <a:spcPts val="2000"/>
              </a:spcAft>
              <a:defRPr sz="1300">
                <a:solidFill>
                  <a:srgbClr val="64748B"/>
                </a:solidFill>
              </a:defRPr>
            </a:pPr>
            <a:r>
              <a:t>Tackling a 25% Surge in Customer Acquisition Costs (CAC) via Behavioral RFM Modeling, Month-1 Churn Diagnostics, and Strategic Lifecycle Marketing.</a:t>
            </a:r>
          </a:p>
          <a:p>
            <a:pPr>
              <a:defRPr sz="1000" b="1">
                <a:solidFill>
                  <a:srgbClr val="334155"/>
                </a:solidFill>
              </a:defRPr>
            </a:pPr>
            <a:r>
              <a:t>Author: Novaldi Ramadhan Waluyo (Data Analyst)   |   Stakeholders: CMO, CRM Lead, Product Growth Manager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4617720"/>
            <a:ext cx="2331720" cy="1051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TOTAL REVENUE</a:t>
            </a:r>
          </a:p>
          <a:p>
            <a:pPr algn="ctr">
              <a:defRPr sz="1800" b="1">
                <a:solidFill>
                  <a:srgbClr val="2563EB"/>
                </a:solidFill>
              </a:defRPr>
            </a:pPr>
            <a:r>
              <a:t>£17.74M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75888" y="4617720"/>
            <a:ext cx="2331720" cy="1051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CLEANED TRANSACTIONS</a:t>
            </a:r>
          </a:p>
          <a:p>
            <a:pPr algn="ctr">
              <a:defRPr sz="1800" b="1">
                <a:solidFill>
                  <a:srgbClr val="10B981"/>
                </a:solidFill>
              </a:defRPr>
            </a:pPr>
            <a:r>
              <a:t>805.5K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63056" y="4617720"/>
            <a:ext cx="2331720" cy="1051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UNIQUE CUSTOMERS</a:t>
            </a:r>
          </a:p>
          <a:p>
            <a:pPr algn="ctr">
              <a:defRPr sz="1800" b="1">
                <a:solidFill>
                  <a:srgbClr val="0F172A"/>
                </a:solidFill>
              </a:defRPr>
            </a:pPr>
            <a:r>
              <a:t>5,878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50224" y="4617720"/>
            <a:ext cx="2331720" cy="1051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64748B"/>
                </a:solidFill>
              </a:defRPr>
            </a:pPr>
            <a:r>
              <a:t>MONTH-1 CHURN DROP</a:t>
            </a:r>
          </a:p>
          <a:p>
            <a:pPr algn="ctr">
              <a:defRPr sz="1800" b="1">
                <a:solidFill>
                  <a:srgbClr val="E11D48"/>
                </a:solidFill>
              </a:defRPr>
            </a:pPr>
            <a:r>
              <a:t>-74.2%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00" b="1">
                <a:solidFill>
                  <a:srgbClr val="2563EB"/>
                </a:solidFill>
              </a:defRPr>
            </a:pPr>
            <a:r>
              <a:t>EXECUTIVE DATA ANALYTICS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Executive Scorecard &amp; Strategic Problem Statement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2542032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0" rIns="164592" bIns="0" rtlCol="0" anchor="ctr"/>
          <a:lstStyle/>
          <a:p>
            <a:pPr algn="ctr">
              <a:defRPr sz="800" b="1">
                <a:solidFill>
                  <a:srgbClr val="64748B"/>
                </a:solidFill>
              </a:defRPr>
            </a:pPr>
            <a:r>
              <a:rPr dirty="0"/>
              <a:t>TOTAL GROSS REVENUE</a:t>
            </a:r>
          </a:p>
          <a:p>
            <a:pPr>
              <a:spcBef>
                <a:spcPts val="200"/>
              </a:spcBef>
              <a:defRPr sz="1900" b="1">
                <a:solidFill>
                  <a:srgbClr val="2563EB"/>
                </a:solidFill>
              </a:defRPr>
            </a:pPr>
            <a:r>
              <a:t>£17.74M</a:t>
            </a:r>
          </a:p>
          <a:p>
            <a:pPr>
              <a:spcBef>
                <a:spcPts val="200"/>
              </a:spcBef>
              <a:defRPr sz="750">
                <a:solidFill>
                  <a:srgbClr val="64748B"/>
                </a:solidFill>
              </a:defRPr>
            </a:pPr>
            <a:r>
              <a:rPr dirty="0"/>
              <a:t>Net valid transactions (24 Months)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234440"/>
            <a:ext cx="2542032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0" rIns="164592" bIns="0" rtlCol="0" anchor="ctr"/>
          <a:lstStyle/>
          <a:p>
            <a:pPr algn="ctr">
              <a:defRPr sz="800" b="1">
                <a:solidFill>
                  <a:srgbClr val="64748B"/>
                </a:solidFill>
              </a:defRPr>
            </a:pPr>
            <a:r>
              <a:t>REGISTERED BUYERS</a:t>
            </a:r>
          </a:p>
          <a:p>
            <a:pPr>
              <a:spcBef>
                <a:spcPts val="200"/>
              </a:spcBef>
              <a:defRPr sz="1900" b="1">
                <a:solidFill>
                  <a:srgbClr val="0F172A"/>
                </a:solidFill>
              </a:defRPr>
            </a:pPr>
            <a:r>
              <a:t>5,878</a:t>
            </a:r>
          </a:p>
          <a:p>
            <a:pPr>
              <a:spcBef>
                <a:spcPts val="200"/>
              </a:spcBef>
              <a:defRPr sz="750">
                <a:solidFill>
                  <a:srgbClr val="64748B"/>
                </a:solidFill>
              </a:defRPr>
            </a:pPr>
            <a:r>
              <a:t>Tracked unique customer IDs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234440"/>
            <a:ext cx="2542032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0" rIns="164592" bIns="0" rtlCol="0" anchor="ctr"/>
          <a:lstStyle/>
          <a:p>
            <a:pPr algn="ctr">
              <a:defRPr sz="800" b="1">
                <a:solidFill>
                  <a:srgbClr val="64748B"/>
                </a:solidFill>
              </a:defRPr>
            </a:pPr>
            <a:r>
              <a:t>MONTH-1 RETENTION</a:t>
            </a:r>
          </a:p>
          <a:p>
            <a:pPr>
              <a:spcBef>
                <a:spcPts val="200"/>
              </a:spcBef>
              <a:defRPr sz="1900" b="1">
                <a:solidFill>
                  <a:srgbClr val="E11D48"/>
                </a:solidFill>
              </a:defRPr>
            </a:pPr>
            <a:r>
              <a:t>25.8%</a:t>
            </a:r>
          </a:p>
          <a:p>
            <a:pPr>
              <a:spcBef>
                <a:spcPts val="200"/>
              </a:spcBef>
              <a:defRPr sz="750">
                <a:solidFill>
                  <a:srgbClr val="64748B"/>
                </a:solidFill>
              </a:defRPr>
            </a:pPr>
            <a:r>
              <a:t>Steepest drop-off point in lifecycle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234440"/>
            <a:ext cx="2542032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0" rIns="164592" bIns="0" rtlCol="0" anchor="ctr"/>
          <a:lstStyle/>
          <a:p>
            <a:pPr algn="ctr">
              <a:defRPr sz="800" b="1">
                <a:solidFill>
                  <a:srgbClr val="64748B"/>
                </a:solidFill>
              </a:defRPr>
            </a:pPr>
            <a:r>
              <a:t>TOP VALUE CONCENTRATION</a:t>
            </a:r>
          </a:p>
          <a:p>
            <a:pPr>
              <a:spcBef>
                <a:spcPts val="200"/>
              </a:spcBef>
              <a:defRPr sz="1900" b="1">
                <a:solidFill>
                  <a:srgbClr val="10B981"/>
                </a:solidFill>
              </a:defRPr>
            </a:pPr>
            <a:r>
              <a:t>62.4%</a:t>
            </a:r>
          </a:p>
          <a:p>
            <a:pPr>
              <a:spcBef>
                <a:spcPts val="200"/>
              </a:spcBef>
              <a:defRPr sz="750">
                <a:solidFill>
                  <a:srgbClr val="64748B"/>
                </a:solidFill>
              </a:defRPr>
            </a:pPr>
            <a:r>
              <a:t>Driven by top 28.1% of 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14600"/>
            <a:ext cx="5230368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37160" rtlCol="0" anchor="ctr"/>
          <a:lstStyle/>
          <a:p>
            <a:pPr algn="ctr">
              <a:spcAft>
                <a:spcPts val="800"/>
              </a:spcAft>
              <a:defRPr sz="1100" b="1">
                <a:solidFill>
                  <a:srgbClr val="E11D48"/>
                </a:solidFill>
              </a:defRPr>
            </a:pPr>
            <a:r>
              <a:t>BUSINESS PROBLEM &amp; VULNERABILITY DIAGNOSIS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Surging Acquisition Costs (+25% CAC): </a:t>
            </a:r>
          </a:p>
          <a:p>
            <a:pPr>
              <a:spcBef>
                <a:spcPts val="100"/>
              </a:spcBef>
              <a:defRPr sz="880">
                <a:solidFill>
                  <a:srgbClr val="334155"/>
                </a:solidFill>
              </a:defRPr>
            </a:pPr>
            <a:r>
              <a:t>  Rising ad channel costs mean acquiring one-off buyers severely damages long-term profitability.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Inefficient Blanket Discounting: </a:t>
            </a:r>
          </a:p>
          <a:p>
            <a:pPr>
              <a:spcBef>
                <a:spcPts val="100"/>
              </a:spcBef>
              <a:defRPr sz="880">
                <a:solidFill>
                  <a:srgbClr val="334155"/>
                </a:solidFill>
              </a:defRPr>
            </a:pPr>
            <a:r>
              <a:t>  Mass promo discounts eroded profit margins without driving repeat loyalty or sustainable habit formation.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The 'Month-1 Cliff' (74.2% Churn): </a:t>
            </a:r>
          </a:p>
          <a:p>
            <a:pPr>
              <a:spcBef>
                <a:spcPts val="100"/>
              </a:spcBef>
              <a:defRPr sz="880">
                <a:solidFill>
                  <a:srgbClr val="334155"/>
                </a:solidFill>
              </a:defRPr>
            </a:pPr>
            <a:r>
              <a:t>  Almost three-quarters of buyers lapse immediately after order #1 due to lack of automated onboarding.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Silent VIP Value Decay: </a:t>
            </a:r>
          </a:p>
          <a:p>
            <a:pPr>
              <a:spcBef>
                <a:spcPts val="100"/>
              </a:spcBef>
              <a:defRPr sz="880">
                <a:solidFill>
                  <a:srgbClr val="334155"/>
                </a:solidFill>
              </a:defRPr>
            </a:pPr>
            <a:r>
              <a:t>  High-value buyers lapsed into 'At Risk' unnoticed without automated behavioral retention triggers.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2514600"/>
            <a:ext cx="5230368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37160" rtlCol="0" anchor="ctr"/>
          <a:lstStyle/>
          <a:p>
            <a:pPr algn="ctr">
              <a:spcAft>
                <a:spcPts val="800"/>
              </a:spcAft>
              <a:defRPr sz="1100" b="1">
                <a:solidFill>
                  <a:srgbClr val="2563EB"/>
                </a:solidFill>
              </a:defRPr>
            </a:pPr>
            <a:r>
              <a:t>STRATEGIC OBJECTIVES &amp; REMEDIATION GOALS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Reallocate 20% Budget to Retention: </a:t>
            </a:r>
          </a:p>
          <a:p>
            <a:pPr>
              <a:spcBef>
                <a:spcPts val="100"/>
              </a:spcBef>
              <a:defRPr sz="880">
                <a:solidFill>
                  <a:srgbClr val="334155"/>
                </a:solidFill>
              </a:defRPr>
            </a:pPr>
            <a:r>
              <a:t>  Shift paid media budget from low-intent cold ads to high-ROI automated post-purchase flows.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Eliminate Blanket Promo Discounts: </a:t>
            </a:r>
          </a:p>
          <a:p>
            <a:pPr>
              <a:spcBef>
                <a:spcPts val="100"/>
              </a:spcBef>
              <a:defRPr sz="880">
                <a:solidFill>
                  <a:srgbClr val="334155"/>
                </a:solidFill>
              </a:defRPr>
            </a:pPr>
            <a:r>
              <a:t>  Preserve margin by replacing general discounts with VIP perks for Champions and win-back offers for At-Risk.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Bridge Month-1 Gap (Days 7-21): </a:t>
            </a:r>
          </a:p>
          <a:p>
            <a:pPr>
              <a:spcBef>
                <a:spcPts val="100"/>
              </a:spcBef>
              <a:defRPr sz="880">
                <a:solidFill>
                  <a:srgbClr val="334155"/>
                </a:solidFill>
              </a:defRPr>
            </a:pPr>
            <a:r>
              <a:t>  Target new buyers with personalized category recommendations within 14 days to lift repeat rates above 35%.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</a:defRPr>
            </a:pPr>
            <a:r>
              <a:t>• Automate Live Tableau Telemetry: </a:t>
            </a:r>
          </a:p>
          <a:p>
            <a:pPr>
              <a:spcBef>
                <a:spcPts val="100"/>
              </a:spcBef>
              <a:defRPr sz="880">
                <a:solidFill>
                  <a:srgbClr val="334155"/>
                </a:solidFill>
              </a:defRPr>
            </a:pPr>
            <a:r>
              <a:t>  Empower growth teams with live weekly cohort retention and RFM migration dashboards.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00" b="1">
                <a:solidFill>
                  <a:srgbClr val="2563EB"/>
                </a:solidFill>
              </a:defRPr>
            </a:pPr>
            <a:r>
              <a:t>EXECUTIVE DATA ANALYTICS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Cohort Retention Analysis: Mapping the Month-1 Churn Cliff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68580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1_cohort_reten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46462"/>
            <a:ext cx="6583680" cy="360394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0" y="1234440"/>
            <a:ext cx="3685032" cy="16093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bIns="91440" rtlCol="0" anchor="ctr"/>
          <a:lstStyle/>
          <a:p>
            <a:pPr algn="ctr">
              <a:spcAft>
                <a:spcPts val="400"/>
              </a:spcAft>
              <a:defRPr sz="950" b="1">
                <a:solidFill>
                  <a:srgbClr val="E11D48"/>
                </a:solidFill>
              </a:defRPr>
            </a:pPr>
            <a:r>
              <a:t>THE MONTH-1 CLIFF (-74.2% DROP)</a:t>
            </a:r>
          </a:p>
          <a:p>
            <a:pPr>
              <a:spcBef>
                <a:spcPts val="200"/>
              </a:spcBef>
              <a:defRPr sz="860">
                <a:solidFill>
                  <a:srgbClr val="334155"/>
                </a:solidFill>
              </a:defRPr>
            </a:pPr>
            <a:r>
              <a:t>Average retention plummets from 100% to 25.8% within 30 days. Over 7 out of 10 newly acquired customers never make a repeat purchase without intervention.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990088"/>
            <a:ext cx="3685032" cy="16093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bIns="91440" rtlCol="0" anchor="ctr"/>
          <a:lstStyle/>
          <a:p>
            <a:pPr algn="ctr">
              <a:spcAft>
                <a:spcPts val="400"/>
              </a:spcAft>
              <a:defRPr sz="950" b="1">
                <a:solidFill>
                  <a:srgbClr val="2563EB"/>
                </a:solidFill>
              </a:defRPr>
            </a:pPr>
            <a:r>
              <a:t>LONG-TERM RETENTION STABILIZATION</a:t>
            </a:r>
          </a:p>
          <a:p>
            <a:pPr>
              <a:spcBef>
                <a:spcPts val="200"/>
              </a:spcBef>
              <a:defRPr sz="860">
                <a:solidFill>
                  <a:srgbClr val="334155"/>
                </a:solidFill>
              </a:defRPr>
            </a:pPr>
            <a:r>
              <a:t>Cohorts that survive past Month 3 form a resilient, highly profitable core, sustaining 20-25% repeat activity through Month 12+.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4745736"/>
            <a:ext cx="3685032" cy="16093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bIns="91440" rtlCol="0" anchor="ctr"/>
          <a:lstStyle/>
          <a:p>
            <a:pPr algn="ctr">
              <a:spcAft>
                <a:spcPts val="400"/>
              </a:spcAft>
              <a:defRPr sz="950" b="1">
                <a:solidFill>
                  <a:srgbClr val="D97706"/>
                </a:solidFill>
              </a:defRPr>
            </a:pPr>
            <a:r>
              <a:t>CRITICAL INTERVENTION WINDOW</a:t>
            </a:r>
          </a:p>
          <a:p>
            <a:pPr>
              <a:spcBef>
                <a:spcPts val="200"/>
              </a:spcBef>
              <a:defRPr sz="860">
                <a:solidFill>
                  <a:srgbClr val="334155"/>
                </a:solidFill>
              </a:defRPr>
            </a:pPr>
            <a:r>
              <a:t>Post-purchase onboarding triggers must deploy during Days 7-21 while product satisfaction is high, before buyer momentum completely fades.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00" b="1">
                <a:solidFill>
                  <a:srgbClr val="2563EB"/>
                </a:solidFill>
              </a:defRPr>
            </a:pPr>
            <a:r>
              <a:t>EXECUTIVE DATA ANALYTICS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RFM Behavioral Segmentation: Pareto Concentration &amp; Tiers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68580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2_rfm_revenue_vs_custom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27642"/>
            <a:ext cx="6583680" cy="29859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0" y="1234440"/>
            <a:ext cx="3685032" cy="16093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bIns="91440" rtlCol="0" anchor="ctr"/>
          <a:lstStyle/>
          <a:p>
            <a:pPr algn="ctr">
              <a:spcAft>
                <a:spcPts val="400"/>
              </a:spcAft>
              <a:defRPr sz="950" b="1">
                <a:solidFill>
                  <a:srgbClr val="10B981"/>
                </a:solidFill>
              </a:defRPr>
            </a:pPr>
            <a:r>
              <a:t>CHAMPIONS (41.1% REVENUE | 14.8% USERS)</a:t>
            </a:r>
          </a:p>
          <a:p>
            <a:pPr>
              <a:spcBef>
                <a:spcPts val="200"/>
              </a:spcBef>
              <a:defRPr sz="860">
                <a:solidFill>
                  <a:srgbClr val="334155"/>
                </a:solidFill>
              </a:defRPr>
            </a:pPr>
            <a:r>
              <a:t>868 VIPs generate £7.28M with 19.8 avg orders (£8.39k spend). Action: Provide dedicated concierge, product co-creation, and zero margin discounts.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990088"/>
            <a:ext cx="3685032" cy="16093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bIns="91440" rtlCol="0" anchor="ctr"/>
          <a:lstStyle/>
          <a:p>
            <a:pPr algn="ctr">
              <a:spcAft>
                <a:spcPts val="400"/>
              </a:spcAft>
              <a:defRPr sz="950" b="1">
                <a:solidFill>
                  <a:srgbClr val="2563EB"/>
                </a:solidFill>
              </a:defRPr>
            </a:pPr>
            <a:r>
              <a:t>LOYAL &amp; POTENTIAL (29.5% REVENUE)</a:t>
            </a:r>
          </a:p>
          <a:p>
            <a:pPr>
              <a:spcBef>
                <a:spcPts val="200"/>
              </a:spcBef>
              <a:defRPr sz="860">
                <a:solidFill>
                  <a:srgbClr val="334155"/>
                </a:solidFill>
              </a:defRPr>
            </a:pPr>
            <a:r>
              <a:t>1,523 consistent buyers contributing £5.23M. Action: Milestone rewards, threshold spend bonuses, and cross-category discovery recommendations.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4745736"/>
            <a:ext cx="3685032" cy="16093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bIns="91440" rtlCol="0" anchor="ctr"/>
          <a:lstStyle/>
          <a:p>
            <a:pPr algn="ctr">
              <a:spcAft>
                <a:spcPts val="400"/>
              </a:spcAft>
              <a:defRPr sz="950" b="1">
                <a:solidFill>
                  <a:srgbClr val="D97706"/>
                </a:solidFill>
              </a:defRPr>
            </a:pPr>
            <a:r>
              <a:t>AT RISK &amp; CAN'T LOSE (15.1% REVENUE)</a:t>
            </a:r>
          </a:p>
          <a:p>
            <a:pPr>
              <a:spcBef>
                <a:spcPts val="200"/>
              </a:spcBef>
              <a:defRPr sz="860">
                <a:solidFill>
                  <a:srgbClr val="334155"/>
                </a:solidFill>
              </a:defRPr>
            </a:pPr>
            <a:r>
              <a:t>945 high-spend customers inactive &gt;200 days (£2.68M revenue at stake). Action: Time-sensitive automated win-back emails &amp; reactivation incentives.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00" b="1">
                <a:solidFill>
                  <a:srgbClr val="2563EB"/>
                </a:solidFill>
              </a:defRPr>
            </a:pPr>
            <a:r>
              <a:t>EXECUTIVE DATA ANALYTICS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Monthly Revenue &amp; Order Volume Dynamics (2009 - 2011)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68580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3_monthly_revenue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22071"/>
            <a:ext cx="6583680" cy="339159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0" y="1234440"/>
            <a:ext cx="3685032" cy="16093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bIns="91440" rtlCol="0" anchor="ctr"/>
          <a:lstStyle/>
          <a:p>
            <a:pPr algn="ctr">
              <a:spcAft>
                <a:spcPts val="400"/>
              </a:spcAft>
              <a:defRPr sz="950" b="1">
                <a:solidFill>
                  <a:srgbClr val="2563EB"/>
                </a:solidFill>
              </a:defRPr>
            </a:pPr>
            <a:r>
              <a:t>Q4 HOLIDAY REVENUE SURGE (&gt;£1.5M/MO)</a:t>
            </a:r>
          </a:p>
          <a:p>
            <a:pPr>
              <a:spcBef>
                <a:spcPts val="200"/>
              </a:spcBef>
              <a:defRPr sz="860">
                <a:solidFill>
                  <a:srgbClr val="334155"/>
                </a:solidFill>
              </a:defRPr>
            </a:pPr>
            <a:r>
              <a:t>Consistent seasonal peaks in October-November where monthly revenue spikes +140% above Q1 levels, driven by seasonal gifting volume.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990088"/>
            <a:ext cx="3685032" cy="16093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bIns="91440" rtlCol="0" anchor="ctr"/>
          <a:lstStyle/>
          <a:p>
            <a:pPr algn="ctr">
              <a:spcAft>
                <a:spcPts val="400"/>
              </a:spcAft>
              <a:defRPr sz="950" b="1">
                <a:solidFill>
                  <a:srgbClr val="D97706"/>
                </a:solidFill>
              </a:defRPr>
            </a:pPr>
            <a:r>
              <a:t>POST-HOLIDAY CHURN MANAGEMENT</a:t>
            </a:r>
          </a:p>
          <a:p>
            <a:pPr>
              <a:spcBef>
                <a:spcPts val="200"/>
              </a:spcBef>
              <a:defRPr sz="860">
                <a:solidFill>
                  <a:srgbClr val="334155"/>
                </a:solidFill>
              </a:defRPr>
            </a:pPr>
            <a:r>
              <a:t>The huge influx of November buyers requires structured January re-engagement sequences to prevent them from becoming dormant Hibernators.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4745736"/>
            <a:ext cx="3685032" cy="16093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bIns="91440" rtlCol="0" anchor="ctr"/>
          <a:lstStyle/>
          <a:p>
            <a:pPr algn="ctr">
              <a:spcAft>
                <a:spcPts val="400"/>
              </a:spcAft>
              <a:defRPr sz="950" b="1">
                <a:solidFill>
                  <a:srgbClr val="10B981"/>
                </a:solidFill>
              </a:defRPr>
            </a:pPr>
            <a:r>
              <a:t>BASKET MONETIZATION &amp; AOV EXPANSION</a:t>
            </a:r>
          </a:p>
          <a:p>
            <a:pPr>
              <a:spcBef>
                <a:spcPts val="200"/>
              </a:spcBef>
              <a:defRPr sz="860">
                <a:solidFill>
                  <a:srgbClr val="334155"/>
                </a:solidFill>
              </a:defRPr>
            </a:pPr>
            <a:r>
              <a:t>Average Order Value (AOV) reaches maximum levels during multi-item holiday purchasing. Automated bundle recommendations maximize transaction value.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00" b="1">
                <a:solidFill>
                  <a:srgbClr val="2563EB"/>
                </a:solidFill>
              </a:defRPr>
            </a:pPr>
            <a:r>
              <a:t>EXECUTIVE DATA ANALYTICS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3-Pillar Stakeholder Strategic Playbook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456432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37160" rtlCol="0" anchor="ctr"/>
          <a:lstStyle/>
          <a:p>
            <a:pPr algn="ctr">
              <a:spcAft>
                <a:spcPts val="800"/>
              </a:spcAft>
              <a:defRPr sz="1050" b="1">
                <a:solidFill>
                  <a:srgbClr val="2563EB"/>
                </a:solidFill>
              </a:defRPr>
            </a:pPr>
            <a:r>
              <a:t>HEAD OF MARKETING / CMO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Reallocate 20% Ad Budget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Shift media spend from low-intent cold search/social to automated lifecycle retention flows.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Eliminate Public Discounting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Stop blanket promo codes; protect product prestige and gross profit margins.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Tiered Promo Strategy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Provide exclusive VIP previews to Champions; reserve financial incentives strictly for At-Risk win-back.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Target CAC Reduction (-15%)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Lower blended acquisition costs by boosting repeat purchase contribution.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61688" y="1234440"/>
            <a:ext cx="3456432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37160" rtlCol="0" anchor="ctr"/>
          <a:lstStyle/>
          <a:p>
            <a:pPr algn="ctr">
              <a:spcAft>
                <a:spcPts val="800"/>
              </a:spcAft>
              <a:defRPr sz="1050" b="1">
                <a:solidFill>
                  <a:srgbClr val="D97706"/>
                </a:solidFill>
              </a:defRPr>
            </a:pPr>
            <a:r>
              <a:t>CRM &amp; RETENTION LEAD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14-Day Post-Purchase Trigger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Deploy automated onboarding emails offering cross-category complements based on 1st order SKU.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60-Day Inactivity Warning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Trigger automated high-urgency win-back sequence before customer recency exceeds 180 days.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Multi-Channel Orchestration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Deliver high-touch SMS/WhatsApp for urgent At-Risk accounts and weekly curated digests for Loyalists.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Dynamic RFM Scoring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Recalculate customer segments weekly to detect segment transitions in real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91856" y="1234440"/>
            <a:ext cx="3456432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37160" rtlCol="0" anchor="ctr"/>
          <a:lstStyle/>
          <a:p>
            <a:pPr algn="ctr">
              <a:spcAft>
                <a:spcPts val="800"/>
              </a:spcAft>
              <a:defRPr sz="1050" b="1">
                <a:solidFill>
                  <a:srgbClr val="10B981"/>
                </a:solidFill>
              </a:defRPr>
            </a:pPr>
            <a:r>
              <a:t>PRODUCT &amp; GROWTH MANAGER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Tiered Loyalty Program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Implement Bronze, Silver, Gold, Platinum tiers with tangible milestone rewards on 3rd &amp; 5th orders.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1-Click Frictionless Reorder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Add instant reorder buttons on order history pages for high-frequency consumable items.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Tableau Retention Tracking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Connect Tableau dashboards via automated TDS / ODBC connection for live weekly cohort monitoring.</a:t>
            </a:r>
          </a:p>
          <a:p>
            <a:pPr>
              <a:spcBef>
                <a:spcPts val="600"/>
              </a:spcBef>
              <a:defRPr sz="919" b="1">
                <a:solidFill>
                  <a:srgbClr val="0F172A"/>
                </a:solidFill>
              </a:defRPr>
            </a:pPr>
            <a:r>
              <a:t>• Cross-Sell Recommendation Engine</a:t>
            </a:r>
          </a:p>
          <a:p>
            <a:pPr>
              <a:spcBef>
                <a:spcPts val="100"/>
              </a:spcBef>
              <a:defRPr sz="840">
                <a:solidFill>
                  <a:srgbClr val="334155"/>
                </a:solidFill>
              </a:defRPr>
            </a:pPr>
            <a:r>
              <a:t>  Deploy intelligent recommendation widgets during checkout based on product affinity rules.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329184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00" b="1">
                <a:solidFill>
                  <a:srgbClr val="2563EB"/>
                </a:solidFill>
              </a:defRPr>
            </a:pPr>
            <a:r>
              <a:t>EXECUTIVE DATA ANALYTICS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Technical Architecture &amp; Automated Data Infrastructure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2542032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0" rIns="164592" bIns="137160" rtlCol="0" anchor="ctr"/>
          <a:lstStyle/>
          <a:p>
            <a:pPr algn="ctr">
              <a:spcAft>
                <a:spcPts val="1000"/>
              </a:spcAft>
              <a:defRPr sz="950" b="1">
                <a:solidFill>
                  <a:srgbClr val="2563EB"/>
                </a:solidFill>
              </a:defRPr>
            </a:pPr>
            <a:r>
              <a:t>1. DATA EXTRACTION &amp; CLEANING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Processed 1.06M raw Excel transactions across 2 historical sheets.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Filtered cancellations ('C'), negative quantities, and zero unit prices.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Resulted in 805,549 verified line items with £17.74M revenue.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234440"/>
            <a:ext cx="2542032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0" rIns="164592" bIns="137160" rtlCol="0" anchor="ctr"/>
          <a:lstStyle/>
          <a:p>
            <a:pPr algn="ctr">
              <a:spcAft>
                <a:spcPts val="1000"/>
              </a:spcAft>
              <a:defRPr sz="950" b="1">
                <a:solidFill>
                  <a:srgbClr val="0F172A"/>
                </a:solidFill>
              </a:defRPr>
            </a:pPr>
            <a:r>
              <a:t>2. SQL &amp; ANALYTICAL MODELING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Built SQLite schema (`online_retail_analytics.db`).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Engineered RFM scores (`NTILE(5)`) and Cohort Index offsets.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Created indexed views: `v_rfm_summary`, `v_monthly_sales_trend`.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234440"/>
            <a:ext cx="2542032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0" rIns="164592" bIns="137160" rtlCol="0" anchor="ctr"/>
          <a:lstStyle/>
          <a:p>
            <a:pPr algn="ctr">
              <a:spcAft>
                <a:spcPts val="1000"/>
              </a:spcAft>
              <a:defRPr sz="950" b="1">
                <a:solidFill>
                  <a:srgbClr val="10B981"/>
                </a:solidFill>
              </a:defRPr>
            </a:pPr>
            <a:r>
              <a:t>3. TABLEAU ODBC AUTOMATION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Configured macOS ODBC DSN (`Portfolio_DB`).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Generated Tableau Data Source (`.tds`) XML for 1-click live connection.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Instantly launched Tableau Desktop for visual exploration.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234440"/>
            <a:ext cx="2542032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82880" rIns="164592" bIns="137160" rtlCol="0" anchor="ctr"/>
          <a:lstStyle/>
          <a:p>
            <a:pPr algn="ctr">
              <a:spcAft>
                <a:spcPts val="1000"/>
              </a:spcAft>
              <a:defRPr sz="950" b="1">
                <a:solidFill>
                  <a:srgbClr val="D97706"/>
                </a:solidFill>
              </a:defRPr>
            </a:pPr>
            <a:r>
              <a:t>4. REPRODUCIBLE ARTIFACTS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Production SQL scripts in `/sql/` directory.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Comprehensive Case Study &amp; KPI Scorecard in `README.md`.</a:t>
            </a:r>
          </a:p>
          <a:p>
            <a:pPr>
              <a:spcBef>
                <a:spcPts val="800"/>
              </a:spcBef>
              <a:defRPr sz="860">
                <a:solidFill>
                  <a:srgbClr val="334155"/>
                </a:solidFill>
              </a:defRPr>
            </a:pPr>
            <a:r>
              <a:t>• High-resolution 300 DPI visualizations &amp; detailed PDF briefing.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1064</Words>
  <Application>Microsoft Macintosh PowerPoint</Application>
  <PresentationFormat>Widescreen</PresentationFormat>
  <Paragraphs>115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novaldiramadhan28</cp:lastModifiedBy>
  <cp:revision>2</cp:revision>
  <dcterms:created xsi:type="dcterms:W3CDTF">2013-01-27T09:14:16Z</dcterms:created>
  <dcterms:modified xsi:type="dcterms:W3CDTF">2026-09-19T15:10:14Z</dcterms:modified>
  <cp:category/>
</cp:coreProperties>
</file>