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011680"/>
            <a:ext cx="10515600" cy="457200"/>
          </a:xfrm>
          <a:prstGeom prst="rect">
            <a:avLst/>
          </a:prstGeom>
          <a:noFill/>
        </p:spPr>
        <p:txBody>
          <a:bodyPr wrap="square">
            <a:spAutoFit/>
          </a:bodyPr>
          <a:lstStyle/>
          <a:p>
            <a:pPr>
              <a:spcAft>
                <a:spcPts val="800"/>
              </a:spcAft>
            </a:pPr>
            <a:r>
              <a:rPr sz="1300" b="1">
                <a:solidFill>
                  <a:srgbClr val="93C5FD"/>
                </a:solidFill>
                <a:latin typeface="Calibri"/>
              </a:rPr>
              <a:t>DATA ANALYTICS CASE STUDY</a:t>
            </a:r>
          </a:p>
        </p:txBody>
      </p:sp>
      <p:sp>
        <p:nvSpPr>
          <p:cNvPr id="4" name="TextBox 3"/>
          <p:cNvSpPr txBox="1"/>
          <p:nvPr/>
        </p:nvSpPr>
        <p:spPr>
          <a:xfrm>
            <a:off x="731520" y="2468880"/>
            <a:ext cx="10515600" cy="1280160"/>
          </a:xfrm>
          <a:prstGeom prst="rect">
            <a:avLst/>
          </a:prstGeom>
          <a:noFill/>
        </p:spPr>
        <p:txBody>
          <a:bodyPr wrap="square">
            <a:spAutoFit/>
          </a:bodyPr>
          <a:lstStyle/>
          <a:p>
            <a:pPr>
              <a:spcAft>
                <a:spcPts val="800"/>
              </a:spcAft>
            </a:pPr>
            <a:r>
              <a:rPr sz="3800" b="1">
                <a:solidFill>
                  <a:srgbClr val="FFFFFF"/>
                </a:solidFill>
                <a:latin typeface="Calibri"/>
              </a:rPr>
              <a:t>E-Commerce Customer Segmentation and Cohort Retention</a:t>
            </a:r>
          </a:p>
        </p:txBody>
      </p:sp>
      <p:sp>
        <p:nvSpPr>
          <p:cNvPr id="5" name="TextBox 4"/>
          <p:cNvSpPr txBox="1"/>
          <p:nvPr/>
        </p:nvSpPr>
        <p:spPr>
          <a:xfrm>
            <a:off x="731520" y="3931920"/>
            <a:ext cx="10515600" cy="548640"/>
          </a:xfrm>
          <a:prstGeom prst="rect">
            <a:avLst/>
          </a:prstGeom>
          <a:noFill/>
        </p:spPr>
        <p:txBody>
          <a:bodyPr wrap="square">
            <a:spAutoFit/>
          </a:bodyPr>
          <a:lstStyle/>
          <a:p>
            <a:pPr>
              <a:spcAft>
                <a:spcPts val="800"/>
              </a:spcAft>
            </a:pPr>
            <a:r>
              <a:rPr sz="1800" b="0">
                <a:solidFill>
                  <a:srgbClr val="CBD5E1"/>
                </a:solidFill>
                <a:latin typeface="Calibri"/>
              </a:rPr>
              <a:t>Who comes back after the first order, and which customers are worth keeping</a:t>
            </a:r>
          </a:p>
        </p:txBody>
      </p:sp>
      <p:sp>
        <p:nvSpPr>
          <p:cNvPr id="6" name="TextBox 5"/>
          <p:cNvSpPr txBox="1"/>
          <p:nvPr/>
        </p:nvSpPr>
        <p:spPr>
          <a:xfrm>
            <a:off x="731520" y="5120640"/>
            <a:ext cx="10515600" cy="457200"/>
          </a:xfrm>
          <a:prstGeom prst="rect">
            <a:avLst/>
          </a:prstGeom>
          <a:noFill/>
        </p:spPr>
        <p:txBody>
          <a:bodyPr wrap="square">
            <a:spAutoFit/>
          </a:bodyPr>
          <a:lstStyle/>
          <a:p>
            <a:pPr>
              <a:spcAft>
                <a:spcPts val="800"/>
              </a:spcAft>
            </a:pPr>
            <a:r>
              <a:rPr sz="1300" b="0">
                <a:solidFill>
                  <a:srgbClr val="94A3B8"/>
                </a:solidFill>
                <a:latin typeface="Calibri"/>
              </a:rPr>
              <a:t>UCI Online Retail II · Dec 2009 to Dec 2011 · SQL, Python, Tableau · Novaldi Ramadhan Waluyo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800"/>
              </a:spcAft>
            </a:pPr>
            <a:r>
              <a:rPr sz="1100" b="1">
                <a:solidFill>
                  <a:srgbClr val="1D4ED8"/>
                </a:solidFill>
                <a:latin typeface="Calibri"/>
              </a:rPr>
              <a:t>OVERVIEW</a:t>
            </a:r>
          </a:p>
        </p:txBody>
      </p:sp>
      <p:sp>
        <p:nvSpPr>
          <p:cNvPr id="3" name="TextBox 2"/>
          <p:cNvSpPr txBox="1"/>
          <p:nvPr/>
        </p:nvSpPr>
        <p:spPr>
          <a:xfrm>
            <a:off x="548640" y="640080"/>
            <a:ext cx="11064240" cy="731520"/>
          </a:xfrm>
          <a:prstGeom prst="rect">
            <a:avLst/>
          </a:prstGeom>
          <a:noFill/>
        </p:spPr>
        <p:txBody>
          <a:bodyPr wrap="square">
            <a:spAutoFit/>
          </a:bodyPr>
          <a:lstStyle/>
          <a:p>
            <a:pPr>
              <a:spcAft>
                <a:spcPts val="800"/>
              </a:spcAft>
            </a:pPr>
            <a:r>
              <a:rPr sz="2800" b="1">
                <a:solidFill>
                  <a:srgbClr val="0F172A"/>
                </a:solidFill>
                <a:latin typeface="Calibri"/>
              </a:rPr>
              <a:t>Summary</a:t>
            </a:r>
          </a:p>
        </p:txBody>
      </p:sp>
      <p:sp>
        <p:nvSpPr>
          <p:cNvPr id="4" name="Rectangle 3"/>
          <p:cNvSpPr/>
          <p:nvPr/>
        </p:nvSpPr>
        <p:spPr>
          <a:xfrm>
            <a:off x="548640" y="1554480"/>
            <a:ext cx="2606040" cy="1234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2286000" cy="548640"/>
          </a:xfrm>
          <a:prstGeom prst="rect">
            <a:avLst/>
          </a:prstGeom>
          <a:noFill/>
        </p:spPr>
        <p:txBody>
          <a:bodyPr wrap="square">
            <a:spAutoFit/>
          </a:bodyPr>
          <a:lstStyle/>
          <a:p>
            <a:pPr>
              <a:spcAft>
                <a:spcPts val="800"/>
              </a:spcAft>
            </a:pPr>
            <a:r>
              <a:rPr sz="2800" b="1">
                <a:solidFill>
                  <a:srgbClr val="0F172A"/>
                </a:solidFill>
                <a:latin typeface="Calibri"/>
              </a:rPr>
              <a:t>£17.74M</a:t>
            </a:r>
          </a:p>
        </p:txBody>
      </p:sp>
      <p:sp>
        <p:nvSpPr>
          <p:cNvPr id="6" name="TextBox 5"/>
          <p:cNvSpPr txBox="1"/>
          <p:nvPr/>
        </p:nvSpPr>
        <p:spPr>
          <a:xfrm>
            <a:off x="731520" y="2286000"/>
            <a:ext cx="2286000" cy="365760"/>
          </a:xfrm>
          <a:prstGeom prst="rect">
            <a:avLst/>
          </a:prstGeom>
          <a:noFill/>
        </p:spPr>
        <p:txBody>
          <a:bodyPr wrap="square">
            <a:spAutoFit/>
          </a:bodyPr>
          <a:lstStyle/>
          <a:p>
            <a:pPr>
              <a:spcAft>
                <a:spcPts val="800"/>
              </a:spcAft>
            </a:pPr>
            <a:r>
              <a:rPr sz="1200" b="0">
                <a:solidFill>
                  <a:srgbClr val="64748B"/>
                </a:solidFill>
                <a:latin typeface="Calibri"/>
              </a:rPr>
              <a:t>Revenue, identified customers</a:t>
            </a:r>
          </a:p>
        </p:txBody>
      </p:sp>
      <p:sp>
        <p:nvSpPr>
          <p:cNvPr id="7" name="Rectangle 6"/>
          <p:cNvSpPr/>
          <p:nvPr/>
        </p:nvSpPr>
        <p:spPr>
          <a:xfrm>
            <a:off x="3364992" y="1554480"/>
            <a:ext cx="2606040" cy="1234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47872" y="1645920"/>
            <a:ext cx="2286000" cy="548640"/>
          </a:xfrm>
          <a:prstGeom prst="rect">
            <a:avLst/>
          </a:prstGeom>
          <a:noFill/>
        </p:spPr>
        <p:txBody>
          <a:bodyPr wrap="square">
            <a:spAutoFit/>
          </a:bodyPr>
          <a:lstStyle/>
          <a:p>
            <a:pPr>
              <a:spcAft>
                <a:spcPts val="800"/>
              </a:spcAft>
            </a:pPr>
            <a:r>
              <a:rPr sz="2800" b="1">
                <a:solidFill>
                  <a:srgbClr val="0F172A"/>
                </a:solidFill>
                <a:latin typeface="Calibri"/>
              </a:rPr>
              <a:t>805.5K</a:t>
            </a:r>
          </a:p>
        </p:txBody>
      </p:sp>
      <p:sp>
        <p:nvSpPr>
          <p:cNvPr id="9" name="TextBox 8"/>
          <p:cNvSpPr txBox="1"/>
          <p:nvPr/>
        </p:nvSpPr>
        <p:spPr>
          <a:xfrm>
            <a:off x="3547872" y="2286000"/>
            <a:ext cx="2286000" cy="365760"/>
          </a:xfrm>
          <a:prstGeom prst="rect">
            <a:avLst/>
          </a:prstGeom>
          <a:noFill/>
        </p:spPr>
        <p:txBody>
          <a:bodyPr wrap="square">
            <a:spAutoFit/>
          </a:bodyPr>
          <a:lstStyle/>
          <a:p>
            <a:pPr>
              <a:spcAft>
                <a:spcPts val="800"/>
              </a:spcAft>
            </a:pPr>
            <a:r>
              <a:rPr sz="1200" b="0">
                <a:solidFill>
                  <a:srgbClr val="64748B"/>
                </a:solidFill>
                <a:latin typeface="Calibri"/>
              </a:rPr>
              <a:t>Cleaned transactions</a:t>
            </a:r>
          </a:p>
        </p:txBody>
      </p:sp>
      <p:sp>
        <p:nvSpPr>
          <p:cNvPr id="10" name="Rectangle 9"/>
          <p:cNvSpPr/>
          <p:nvPr/>
        </p:nvSpPr>
        <p:spPr>
          <a:xfrm>
            <a:off x="6181344" y="1554480"/>
            <a:ext cx="2606040" cy="1234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64224" y="1645920"/>
            <a:ext cx="2286000" cy="548640"/>
          </a:xfrm>
          <a:prstGeom prst="rect">
            <a:avLst/>
          </a:prstGeom>
          <a:noFill/>
        </p:spPr>
        <p:txBody>
          <a:bodyPr wrap="square">
            <a:spAutoFit/>
          </a:bodyPr>
          <a:lstStyle/>
          <a:p>
            <a:pPr>
              <a:spcAft>
                <a:spcPts val="800"/>
              </a:spcAft>
            </a:pPr>
            <a:r>
              <a:rPr sz="2800" b="1">
                <a:solidFill>
                  <a:srgbClr val="0F172A"/>
                </a:solidFill>
                <a:latin typeface="Calibri"/>
              </a:rPr>
              <a:t>5,878</a:t>
            </a:r>
          </a:p>
        </p:txBody>
      </p:sp>
      <p:sp>
        <p:nvSpPr>
          <p:cNvPr id="12" name="TextBox 11"/>
          <p:cNvSpPr txBox="1"/>
          <p:nvPr/>
        </p:nvSpPr>
        <p:spPr>
          <a:xfrm>
            <a:off x="6364224" y="2286000"/>
            <a:ext cx="2286000" cy="365760"/>
          </a:xfrm>
          <a:prstGeom prst="rect">
            <a:avLst/>
          </a:prstGeom>
          <a:noFill/>
        </p:spPr>
        <p:txBody>
          <a:bodyPr wrap="square">
            <a:spAutoFit/>
          </a:bodyPr>
          <a:lstStyle/>
          <a:p>
            <a:pPr>
              <a:spcAft>
                <a:spcPts val="800"/>
              </a:spcAft>
            </a:pPr>
            <a:r>
              <a:rPr sz="1200" b="0">
                <a:solidFill>
                  <a:srgbClr val="64748B"/>
                </a:solidFill>
                <a:latin typeface="Calibri"/>
              </a:rPr>
              <a:t>Customers</a:t>
            </a:r>
          </a:p>
        </p:txBody>
      </p:sp>
      <p:sp>
        <p:nvSpPr>
          <p:cNvPr id="13" name="Rectangle 12"/>
          <p:cNvSpPr/>
          <p:nvPr/>
        </p:nvSpPr>
        <p:spPr>
          <a:xfrm>
            <a:off x="8997696" y="1554480"/>
            <a:ext cx="2606040" cy="1234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0576" y="1645920"/>
            <a:ext cx="2286000" cy="548640"/>
          </a:xfrm>
          <a:prstGeom prst="rect">
            <a:avLst/>
          </a:prstGeom>
          <a:noFill/>
        </p:spPr>
        <p:txBody>
          <a:bodyPr wrap="square">
            <a:spAutoFit/>
          </a:bodyPr>
          <a:lstStyle/>
          <a:p>
            <a:pPr>
              <a:spcAft>
                <a:spcPts val="800"/>
              </a:spcAft>
            </a:pPr>
            <a:r>
              <a:rPr sz="2800" b="1">
                <a:solidFill>
                  <a:srgbClr val="0F172A"/>
                </a:solidFill>
                <a:latin typeface="Calibri"/>
              </a:rPr>
              <a:t>21%</a:t>
            </a:r>
          </a:p>
        </p:txBody>
      </p:sp>
      <p:sp>
        <p:nvSpPr>
          <p:cNvPr id="15" name="TextBox 14"/>
          <p:cNvSpPr txBox="1"/>
          <p:nvPr/>
        </p:nvSpPr>
        <p:spPr>
          <a:xfrm>
            <a:off x="9180576" y="2286000"/>
            <a:ext cx="2286000" cy="365760"/>
          </a:xfrm>
          <a:prstGeom prst="rect">
            <a:avLst/>
          </a:prstGeom>
          <a:noFill/>
        </p:spPr>
        <p:txBody>
          <a:bodyPr wrap="square">
            <a:spAutoFit/>
          </a:bodyPr>
          <a:lstStyle/>
          <a:p>
            <a:pPr>
              <a:spcAft>
                <a:spcPts val="800"/>
              </a:spcAft>
            </a:pPr>
            <a:r>
              <a:rPr sz="1200" b="0">
                <a:solidFill>
                  <a:srgbClr val="64748B"/>
                </a:solidFill>
                <a:latin typeface="Calibri"/>
              </a:rPr>
              <a:t>Return in month 1 (avg)</a:t>
            </a:r>
          </a:p>
        </p:txBody>
      </p:sp>
      <p:sp>
        <p:nvSpPr>
          <p:cNvPr id="16" name="TextBox 15"/>
          <p:cNvSpPr txBox="1"/>
          <p:nvPr/>
        </p:nvSpPr>
        <p:spPr>
          <a:xfrm>
            <a:off x="548640" y="3154680"/>
            <a:ext cx="11064240" cy="3291840"/>
          </a:xfrm>
          <a:prstGeom prst="rect">
            <a:avLst/>
          </a:prstGeom>
          <a:noFill/>
        </p:spPr>
        <p:txBody>
          <a:bodyPr wrap="square">
            <a:spAutoFit/>
          </a:bodyPr>
          <a:lstStyle/>
          <a:p>
            <a:pPr>
              <a:spcAft>
                <a:spcPts val="800"/>
              </a:spcAft>
            </a:pPr>
            <a:r>
              <a:rPr sz="1400" b="1">
                <a:solidFill>
                  <a:srgbClr val="1E293B"/>
                </a:solidFill>
                <a:latin typeface="Calibri"/>
              </a:rPr>
              <a:t>Most customers do not come back in the first month. </a:t>
            </a:r>
            <a:r>
              <a:rPr sz="1400" b="0">
                <a:solidFill>
                  <a:srgbClr val="1E293B"/>
                </a:solidFill>
                <a:latin typeface="Calibri"/>
              </a:rPr>
              <a:t>Across the 24 cohorts with a month-1 value, on average only 21% of new customers bought again in the month after their first order. Retention stays near 20% for the next few months and is about 18% at month 6 and 18% at month 12. The largest loss happens right after the first order.</a:t>
            </a:r>
          </a:p>
          <a:p>
            <a:pPr>
              <a:spcAft>
                <a:spcPts val="800"/>
              </a:spcAft>
            </a:pPr>
            <a:r>
              <a:rPr sz="1400" b="1">
                <a:solidFill>
                  <a:srgbClr val="1E293B"/>
                </a:solidFill>
                <a:latin typeface="Calibri"/>
              </a:rPr>
              <a:t>A small group of customers brings in most of the revenue. </a:t>
            </a:r>
            <a:r>
              <a:rPr sz="1400" b="0">
                <a:solidFill>
                  <a:srgbClr val="1E293B"/>
                </a:solidFill>
                <a:latin typeface="Calibri"/>
              </a:rPr>
              <a:t>Champions and Loyal Customers are 43% of customers but 85% of revenue. Champions alone (1,324 customers) account for 69% of revenue.</a:t>
            </a:r>
          </a:p>
          <a:p>
            <a:pPr>
              <a:spcAft>
                <a:spcPts val="800"/>
              </a:spcAft>
            </a:pPr>
            <a:r>
              <a:rPr sz="1400" b="1">
                <a:solidFill>
                  <a:srgbClr val="1E293B"/>
                </a:solidFill>
                <a:latin typeface="Calibri"/>
              </a:rPr>
              <a:t>At Risk customers are the clearest win-back target. </a:t>
            </a:r>
            <a:r>
              <a:rPr sz="1400" b="0">
                <a:solidFill>
                  <a:srgbClr val="1E293B"/>
                </a:solidFill>
                <a:latin typeface="Calibri"/>
              </a:rPr>
              <a:t>683 customers who used to buy often (5.3 orders on average) have not ordered for about a year (364 days on average). They spent £1.71M in total.</a:t>
            </a:r>
          </a:p>
          <a:p>
            <a:pPr>
              <a:spcAft>
                <a:spcPts val="800"/>
              </a:spcAft>
            </a:pPr>
            <a:r>
              <a:rPr sz="1400" b="1">
                <a:solidFill>
                  <a:srgbClr val="1E293B"/>
                </a:solidFill>
                <a:latin typeface="Calibri"/>
              </a:rPr>
              <a:t>Revenue is seasonal. </a:t>
            </a:r>
            <a:r>
              <a:rPr sz="1400" b="0">
                <a:solidFill>
                  <a:srgbClr val="1E293B"/>
                </a:solidFill>
                <a:latin typeface="Calibri"/>
              </a:rPr>
              <a:t>Monthly revenue rises from September and peaks in November in both 2010 and 2011, at roughly twice the level of early 2010. December 2011 looks low only because the data ends on 9 December.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800"/>
              </a:spcAft>
            </a:pPr>
            <a:r>
              <a:rPr sz="1100" b="1">
                <a:solidFill>
                  <a:srgbClr val="1D4ED8"/>
                </a:solidFill>
                <a:latin typeface="Calibri"/>
              </a:rPr>
              <a:t>COHORT RETENTION</a:t>
            </a:r>
          </a:p>
        </p:txBody>
      </p:sp>
      <p:sp>
        <p:nvSpPr>
          <p:cNvPr id="3" name="TextBox 2"/>
          <p:cNvSpPr txBox="1"/>
          <p:nvPr/>
        </p:nvSpPr>
        <p:spPr>
          <a:xfrm>
            <a:off x="548640" y="640080"/>
            <a:ext cx="11064240" cy="731520"/>
          </a:xfrm>
          <a:prstGeom prst="rect">
            <a:avLst/>
          </a:prstGeom>
          <a:noFill/>
        </p:spPr>
        <p:txBody>
          <a:bodyPr wrap="square">
            <a:spAutoFit/>
          </a:bodyPr>
          <a:lstStyle/>
          <a:p>
            <a:pPr>
              <a:spcAft>
                <a:spcPts val="800"/>
              </a:spcAft>
            </a:pPr>
            <a:r>
              <a:rPr sz="2800" b="1">
                <a:solidFill>
                  <a:srgbClr val="0F172A"/>
                </a:solidFill>
                <a:latin typeface="Calibri"/>
              </a:rPr>
              <a:t>Only 21% of new customers buy again in month 1</a:t>
            </a:r>
          </a:p>
        </p:txBody>
      </p:sp>
      <p:pic>
        <p:nvPicPr>
          <p:cNvPr id="4" name="Picture 3" descr="01_cohort_retention_heatmap.png"/>
          <p:cNvPicPr>
            <a:picLocks noChangeAspect="1"/>
          </p:cNvPicPr>
          <p:nvPr/>
        </p:nvPicPr>
        <p:blipFill>
          <a:blip r:embed="rId2"/>
          <a:stretch>
            <a:fillRect/>
          </a:stretch>
        </p:blipFill>
        <p:spPr>
          <a:xfrm>
            <a:off x="548640" y="1508760"/>
            <a:ext cx="6949440" cy="3781168"/>
          </a:xfrm>
          <a:prstGeom prst="rect">
            <a:avLst/>
          </a:prstGeom>
        </p:spPr>
      </p:pic>
      <p:sp>
        <p:nvSpPr>
          <p:cNvPr id="5" name="TextBox 4"/>
          <p:cNvSpPr txBox="1"/>
          <p:nvPr/>
        </p:nvSpPr>
        <p:spPr>
          <a:xfrm>
            <a:off x="7772400" y="1600200"/>
            <a:ext cx="3931920" cy="4754880"/>
          </a:xfrm>
          <a:prstGeom prst="rect">
            <a:avLst/>
          </a:prstGeom>
          <a:noFill/>
        </p:spPr>
        <p:txBody>
          <a:bodyPr wrap="square">
            <a:spAutoFit/>
          </a:bodyPr>
          <a:lstStyle/>
          <a:p>
            <a:pPr>
              <a:spcAft>
                <a:spcPts val="800"/>
              </a:spcAft>
            </a:pPr>
            <a:r>
              <a:rPr sz="1400" b="0">
                <a:solidFill>
                  <a:srgbClr val="1E293B"/>
                </a:solidFill>
                <a:latin typeface="Calibri"/>
              </a:rPr>
              <a:t>Across the 24 cohorts with a month-1 value, on average only 21% of new customers bought again in the month after their first order. Retention stays near 20% for the next few months and is about 18% at month 6 and 18% at month 12. The largest loss happens right after the first order.</a:t>
            </a:r>
          </a:p>
          <a:p>
            <a:pPr>
              <a:spcAft>
                <a:spcPts val="800"/>
              </a:spcAft>
            </a:pPr>
            <a:r>
              <a:rPr sz="1400" b="0">
                <a:solidFill>
                  <a:srgbClr val="1E293B"/>
                </a:solidFill>
                <a:latin typeface="Calibri"/>
              </a:rPr>
              <a:t>The December 2009 cohort retains much better than the rest (35% in month 1) because the data starts that month, so it includes customers who were already buying before.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800"/>
              </a:spcAft>
            </a:pPr>
            <a:r>
              <a:rPr sz="1100" b="1">
                <a:solidFill>
                  <a:srgbClr val="1D4ED8"/>
                </a:solidFill>
                <a:latin typeface="Calibri"/>
              </a:rPr>
              <a:t>RFM SEGMENTATION</a:t>
            </a:r>
          </a:p>
        </p:txBody>
      </p:sp>
      <p:sp>
        <p:nvSpPr>
          <p:cNvPr id="3" name="TextBox 2"/>
          <p:cNvSpPr txBox="1"/>
          <p:nvPr/>
        </p:nvSpPr>
        <p:spPr>
          <a:xfrm>
            <a:off x="548640" y="640080"/>
            <a:ext cx="11064240" cy="731520"/>
          </a:xfrm>
          <a:prstGeom prst="rect">
            <a:avLst/>
          </a:prstGeom>
          <a:noFill/>
        </p:spPr>
        <p:txBody>
          <a:bodyPr wrap="square">
            <a:spAutoFit/>
          </a:bodyPr>
          <a:lstStyle/>
          <a:p>
            <a:pPr>
              <a:spcAft>
                <a:spcPts val="800"/>
              </a:spcAft>
            </a:pPr>
            <a:r>
              <a:rPr sz="2800" b="1">
                <a:solidFill>
                  <a:srgbClr val="0F172A"/>
                </a:solidFill>
                <a:latin typeface="Calibri"/>
              </a:rPr>
              <a:t>43% of customers bring in 85% of revenue</a:t>
            </a:r>
          </a:p>
        </p:txBody>
      </p:sp>
      <p:pic>
        <p:nvPicPr>
          <p:cNvPr id="4" name="Picture 3" descr="02_rfm_revenue_vs_customers.png"/>
          <p:cNvPicPr>
            <a:picLocks noChangeAspect="1"/>
          </p:cNvPicPr>
          <p:nvPr/>
        </p:nvPicPr>
        <p:blipFill>
          <a:blip r:embed="rId2"/>
          <a:stretch>
            <a:fillRect/>
          </a:stretch>
        </p:blipFill>
        <p:spPr>
          <a:xfrm>
            <a:off x="548640" y="1508760"/>
            <a:ext cx="6949440" cy="3580015"/>
          </a:xfrm>
          <a:prstGeom prst="rect">
            <a:avLst/>
          </a:prstGeom>
        </p:spPr>
      </p:pic>
      <p:sp>
        <p:nvSpPr>
          <p:cNvPr id="5" name="TextBox 4"/>
          <p:cNvSpPr txBox="1"/>
          <p:nvPr/>
        </p:nvSpPr>
        <p:spPr>
          <a:xfrm>
            <a:off x="7772400" y="1600200"/>
            <a:ext cx="3931920" cy="4754880"/>
          </a:xfrm>
          <a:prstGeom prst="rect">
            <a:avLst/>
          </a:prstGeom>
          <a:noFill/>
        </p:spPr>
        <p:txBody>
          <a:bodyPr wrap="square">
            <a:spAutoFit/>
          </a:bodyPr>
          <a:lstStyle/>
          <a:p>
            <a:pPr>
              <a:spcAft>
                <a:spcPts val="800"/>
              </a:spcAft>
            </a:pPr>
            <a:r>
              <a:rPr sz="1400" b="0">
                <a:solidFill>
                  <a:srgbClr val="1E293B"/>
                </a:solidFill>
                <a:latin typeface="Calibri"/>
              </a:rPr>
              <a:t>Champions and Loyal Customers are 43% of customers but 85% of revenue. Champions alone (1,324 customers) account for 69% of revenue.</a:t>
            </a:r>
          </a:p>
          <a:p>
            <a:pPr>
              <a:spcAft>
                <a:spcPts val="800"/>
              </a:spcAft>
            </a:pPr>
            <a:r>
              <a:rPr sz="1400" b="0">
                <a:solidFill>
                  <a:srgbClr val="1E293B"/>
                </a:solidFill>
                <a:latin typeface="Calibri"/>
              </a:rPr>
              <a:t>683 customers who used to buy often (5.3 orders on average) have not ordered for about a year (364 days on average). They spent £1.71M in total.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800"/>
              </a:spcAft>
            </a:pPr>
            <a:r>
              <a:rPr sz="1100" b="1">
                <a:solidFill>
                  <a:srgbClr val="1D4ED8"/>
                </a:solidFill>
                <a:latin typeface="Calibri"/>
              </a:rPr>
              <a:t>SEASONALITY</a:t>
            </a:r>
          </a:p>
        </p:txBody>
      </p:sp>
      <p:sp>
        <p:nvSpPr>
          <p:cNvPr id="3" name="TextBox 2"/>
          <p:cNvSpPr txBox="1"/>
          <p:nvPr/>
        </p:nvSpPr>
        <p:spPr>
          <a:xfrm>
            <a:off x="548640" y="640080"/>
            <a:ext cx="11064240" cy="731520"/>
          </a:xfrm>
          <a:prstGeom prst="rect">
            <a:avLst/>
          </a:prstGeom>
          <a:noFill/>
        </p:spPr>
        <p:txBody>
          <a:bodyPr wrap="square">
            <a:spAutoFit/>
          </a:bodyPr>
          <a:lstStyle/>
          <a:p>
            <a:pPr>
              <a:spcAft>
                <a:spcPts val="800"/>
              </a:spcAft>
            </a:pPr>
            <a:r>
              <a:rPr sz="2800" b="1">
                <a:solidFill>
                  <a:srgbClr val="0F172A"/>
                </a:solidFill>
                <a:latin typeface="Calibri"/>
              </a:rPr>
              <a:t>Revenue peaks every November</a:t>
            </a:r>
          </a:p>
        </p:txBody>
      </p:sp>
      <p:pic>
        <p:nvPicPr>
          <p:cNvPr id="4" name="Picture 3" descr="03_monthly_revenue_growth.png"/>
          <p:cNvPicPr>
            <a:picLocks noChangeAspect="1"/>
          </p:cNvPicPr>
          <p:nvPr/>
        </p:nvPicPr>
        <p:blipFill>
          <a:blip r:embed="rId2"/>
          <a:stretch>
            <a:fillRect/>
          </a:stretch>
        </p:blipFill>
        <p:spPr>
          <a:xfrm>
            <a:off x="548640" y="1508760"/>
            <a:ext cx="6949440" cy="3580015"/>
          </a:xfrm>
          <a:prstGeom prst="rect">
            <a:avLst/>
          </a:prstGeom>
        </p:spPr>
      </p:pic>
      <p:sp>
        <p:nvSpPr>
          <p:cNvPr id="5" name="TextBox 4"/>
          <p:cNvSpPr txBox="1"/>
          <p:nvPr/>
        </p:nvSpPr>
        <p:spPr>
          <a:xfrm>
            <a:off x="7772400" y="1600200"/>
            <a:ext cx="3931920" cy="4754880"/>
          </a:xfrm>
          <a:prstGeom prst="rect">
            <a:avLst/>
          </a:prstGeom>
          <a:noFill/>
        </p:spPr>
        <p:txBody>
          <a:bodyPr wrap="square">
            <a:spAutoFit/>
          </a:bodyPr>
          <a:lstStyle/>
          <a:p>
            <a:pPr>
              <a:spcAft>
                <a:spcPts val="800"/>
              </a:spcAft>
            </a:pPr>
            <a:r>
              <a:rPr sz="1400" b="0">
                <a:solidFill>
                  <a:srgbClr val="1E293B"/>
                </a:solidFill>
                <a:latin typeface="Calibri"/>
              </a:rPr>
              <a:t>Monthly revenue rises from September and peaks in November in both 2010 and 2011, at roughly twice the level of early 2010. December 2011 looks low only because the data ends on 9 December.</a:t>
            </a:r>
          </a:p>
          <a:p>
            <a:pPr>
              <a:spcAft>
                <a:spcPts val="800"/>
              </a:spcAft>
            </a:pPr>
            <a:r>
              <a:rPr sz="1400" b="0">
                <a:solidFill>
                  <a:srgbClr val="1E293B"/>
                </a:solidFill>
                <a:latin typeface="Calibri"/>
              </a:rPr>
              <a:t>Stock and campaigns should be planned around September to November.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800"/>
              </a:spcAft>
            </a:pPr>
            <a:r>
              <a:rPr sz="1100" b="1">
                <a:solidFill>
                  <a:srgbClr val="1D4ED8"/>
                </a:solidFill>
                <a:latin typeface="Calibri"/>
              </a:rPr>
              <a:t>WHAT TO DO</a:t>
            </a:r>
          </a:p>
        </p:txBody>
      </p:sp>
      <p:sp>
        <p:nvSpPr>
          <p:cNvPr id="3" name="TextBox 2"/>
          <p:cNvSpPr txBox="1"/>
          <p:nvPr/>
        </p:nvSpPr>
        <p:spPr>
          <a:xfrm>
            <a:off x="548640" y="640080"/>
            <a:ext cx="11064240" cy="731520"/>
          </a:xfrm>
          <a:prstGeom prst="rect">
            <a:avLst/>
          </a:prstGeom>
          <a:noFill/>
        </p:spPr>
        <p:txBody>
          <a:bodyPr wrap="square">
            <a:spAutoFit/>
          </a:bodyPr>
          <a:lstStyle/>
          <a:p>
            <a:pPr>
              <a:spcAft>
                <a:spcPts val="800"/>
              </a:spcAft>
            </a:pPr>
            <a:r>
              <a:rPr sz="2800" b="1">
                <a:solidFill>
                  <a:srgbClr val="0F172A"/>
                </a:solidFill>
                <a:latin typeface="Calibri"/>
              </a:rPr>
              <a:t>Recommendations</a:t>
            </a:r>
          </a:p>
        </p:txBody>
      </p:sp>
      <p:sp>
        <p:nvSpPr>
          <p:cNvPr id="4" name="Rectangle 3"/>
          <p:cNvSpPr/>
          <p:nvPr/>
        </p:nvSpPr>
        <p:spPr>
          <a:xfrm>
            <a:off x="548640" y="1554480"/>
            <a:ext cx="5394960" cy="21031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37360"/>
            <a:ext cx="4937760" cy="457200"/>
          </a:xfrm>
          <a:prstGeom prst="rect">
            <a:avLst/>
          </a:prstGeom>
          <a:noFill/>
        </p:spPr>
        <p:txBody>
          <a:bodyPr wrap="square">
            <a:spAutoFit/>
          </a:bodyPr>
          <a:lstStyle/>
          <a:p>
            <a:pPr>
              <a:spcAft>
                <a:spcPts val="800"/>
              </a:spcAft>
            </a:pPr>
            <a:r>
              <a:rPr sz="1700" b="1">
                <a:solidFill>
                  <a:srgbClr val="0F172A"/>
                </a:solidFill>
                <a:latin typeface="Calibri"/>
              </a:rPr>
              <a:t>1. Focus on the second purchase</a:t>
            </a:r>
          </a:p>
        </p:txBody>
      </p:sp>
      <p:sp>
        <p:nvSpPr>
          <p:cNvPr id="6" name="TextBox 5"/>
          <p:cNvSpPr txBox="1"/>
          <p:nvPr/>
        </p:nvSpPr>
        <p:spPr>
          <a:xfrm>
            <a:off x="777240" y="2286000"/>
            <a:ext cx="4937760" cy="1280160"/>
          </a:xfrm>
          <a:prstGeom prst="rect">
            <a:avLst/>
          </a:prstGeom>
          <a:noFill/>
        </p:spPr>
        <p:txBody>
          <a:bodyPr wrap="square">
            <a:spAutoFit/>
          </a:bodyPr>
          <a:lstStyle/>
          <a:p>
            <a:pPr>
              <a:spcAft>
                <a:spcPts val="800"/>
              </a:spcAft>
            </a:pPr>
            <a:r>
              <a:rPr sz="1400" b="0">
                <a:solidFill>
                  <a:srgbClr val="1E293B"/>
                </a:solidFill>
                <a:latin typeface="Calibri"/>
              </a:rPr>
              <a:t>The biggest drop is in the first month, so a follow-up offer or product recommendation a few weeks after the first order targets exactly that gap.</a:t>
            </a:r>
          </a:p>
        </p:txBody>
      </p:sp>
      <p:sp>
        <p:nvSpPr>
          <p:cNvPr id="7" name="Rectangle 6"/>
          <p:cNvSpPr/>
          <p:nvPr/>
        </p:nvSpPr>
        <p:spPr>
          <a:xfrm>
            <a:off x="6172200" y="1554480"/>
            <a:ext cx="5394960" cy="21031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937760" cy="457200"/>
          </a:xfrm>
          <a:prstGeom prst="rect">
            <a:avLst/>
          </a:prstGeom>
          <a:noFill/>
        </p:spPr>
        <p:txBody>
          <a:bodyPr wrap="square">
            <a:spAutoFit/>
          </a:bodyPr>
          <a:lstStyle/>
          <a:p>
            <a:pPr>
              <a:spcAft>
                <a:spcPts val="800"/>
              </a:spcAft>
            </a:pPr>
            <a:r>
              <a:rPr sz="1700" b="1">
                <a:solidFill>
                  <a:srgbClr val="0F172A"/>
                </a:solidFill>
                <a:latin typeface="Calibri"/>
              </a:rPr>
              <a:t>2. Run a win-back campaign for At Risk customers</a:t>
            </a:r>
          </a:p>
        </p:txBody>
      </p:sp>
      <p:sp>
        <p:nvSpPr>
          <p:cNvPr id="9" name="TextBox 8"/>
          <p:cNvSpPr txBox="1"/>
          <p:nvPr/>
        </p:nvSpPr>
        <p:spPr>
          <a:xfrm>
            <a:off x="6400800" y="2286000"/>
            <a:ext cx="4937760" cy="1280160"/>
          </a:xfrm>
          <a:prstGeom prst="rect">
            <a:avLst/>
          </a:prstGeom>
          <a:noFill/>
        </p:spPr>
        <p:txBody>
          <a:bodyPr wrap="square">
            <a:spAutoFit/>
          </a:bodyPr>
          <a:lstStyle/>
          <a:p>
            <a:pPr>
              <a:spcAft>
                <a:spcPts val="800"/>
              </a:spcAft>
            </a:pPr>
            <a:r>
              <a:rPr sz="1400" b="0">
                <a:solidFill>
                  <a:srgbClr val="1E293B"/>
                </a:solidFill>
                <a:latin typeface="Calibri"/>
              </a:rPr>
              <a:t>They have a proven buying history and £1.71M of past spend. Even a small reactivation rate is worth more than a campaign aimed at Hibernating customers (1,377 customers, 2.2% of revenue).</a:t>
            </a:r>
          </a:p>
        </p:txBody>
      </p:sp>
      <p:sp>
        <p:nvSpPr>
          <p:cNvPr id="10" name="Rectangle 9"/>
          <p:cNvSpPr/>
          <p:nvPr/>
        </p:nvSpPr>
        <p:spPr>
          <a:xfrm>
            <a:off x="548640" y="3886200"/>
            <a:ext cx="5394960" cy="21031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069080"/>
            <a:ext cx="4937760" cy="457200"/>
          </a:xfrm>
          <a:prstGeom prst="rect">
            <a:avLst/>
          </a:prstGeom>
          <a:noFill/>
        </p:spPr>
        <p:txBody>
          <a:bodyPr wrap="square">
            <a:spAutoFit/>
          </a:bodyPr>
          <a:lstStyle/>
          <a:p>
            <a:pPr>
              <a:spcAft>
                <a:spcPts val="800"/>
              </a:spcAft>
            </a:pPr>
            <a:r>
              <a:rPr sz="1700" b="1">
                <a:solidFill>
                  <a:srgbClr val="0F172A"/>
                </a:solidFill>
                <a:latin typeface="Calibri"/>
              </a:rPr>
              <a:t>3. Keep Champions without heavy discounts</a:t>
            </a:r>
          </a:p>
        </p:txBody>
      </p:sp>
      <p:sp>
        <p:nvSpPr>
          <p:cNvPr id="12" name="TextBox 11"/>
          <p:cNvSpPr txBox="1"/>
          <p:nvPr/>
        </p:nvSpPr>
        <p:spPr>
          <a:xfrm>
            <a:off x="777240" y="4617720"/>
            <a:ext cx="4937760" cy="1280160"/>
          </a:xfrm>
          <a:prstGeom prst="rect">
            <a:avLst/>
          </a:prstGeom>
          <a:noFill/>
        </p:spPr>
        <p:txBody>
          <a:bodyPr wrap="square">
            <a:spAutoFit/>
          </a:bodyPr>
          <a:lstStyle/>
          <a:p>
            <a:pPr>
              <a:spcAft>
                <a:spcPts val="800"/>
              </a:spcAft>
            </a:pPr>
            <a:r>
              <a:rPr sz="1400" b="0">
                <a:solidFill>
                  <a:srgbClr val="1E293B"/>
                </a:solidFill>
                <a:latin typeface="Calibri"/>
              </a:rPr>
              <a:t>They already buy often, so early access or service perks are a cheaper way to keep them than price cuts.</a:t>
            </a:r>
          </a:p>
        </p:txBody>
      </p:sp>
      <p:sp>
        <p:nvSpPr>
          <p:cNvPr id="13" name="Rectangle 12"/>
          <p:cNvSpPr/>
          <p:nvPr/>
        </p:nvSpPr>
        <p:spPr>
          <a:xfrm>
            <a:off x="6172200" y="3886200"/>
            <a:ext cx="5394960" cy="21031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069080"/>
            <a:ext cx="4937760" cy="457200"/>
          </a:xfrm>
          <a:prstGeom prst="rect">
            <a:avLst/>
          </a:prstGeom>
          <a:noFill/>
        </p:spPr>
        <p:txBody>
          <a:bodyPr wrap="square">
            <a:spAutoFit/>
          </a:bodyPr>
          <a:lstStyle/>
          <a:p>
            <a:pPr>
              <a:spcAft>
                <a:spcPts val="800"/>
              </a:spcAft>
            </a:pPr>
            <a:r>
              <a:rPr sz="1700" b="1">
                <a:solidFill>
                  <a:srgbClr val="0F172A"/>
                </a:solidFill>
                <a:latin typeface="Calibri"/>
              </a:rPr>
              <a:t>4. Plan stock and campaigns around September to November</a:t>
            </a:r>
          </a:p>
        </p:txBody>
      </p:sp>
      <p:sp>
        <p:nvSpPr>
          <p:cNvPr id="15" name="TextBox 14"/>
          <p:cNvSpPr txBox="1"/>
          <p:nvPr/>
        </p:nvSpPr>
        <p:spPr>
          <a:xfrm>
            <a:off x="6400800" y="4617720"/>
            <a:ext cx="4937760" cy="1280160"/>
          </a:xfrm>
          <a:prstGeom prst="rect">
            <a:avLst/>
          </a:prstGeom>
          <a:noFill/>
        </p:spPr>
        <p:txBody>
          <a:bodyPr wrap="square">
            <a:spAutoFit/>
          </a:bodyPr>
          <a:lstStyle/>
          <a:p>
            <a:pPr>
              <a:spcAft>
                <a:spcPts val="800"/>
              </a:spcAft>
            </a:pPr>
            <a:r>
              <a:rPr sz="1400" b="0">
                <a:solidFill>
                  <a:srgbClr val="1E293B"/>
                </a:solidFill>
                <a:latin typeface="Calibri"/>
              </a:rPr>
              <a:t>Demand is highest in these months in both years.</a:t>
            </a:r>
          </a:p>
        </p:txBody>
      </p:sp>
      <p:sp>
        <p:nvSpPr>
          <p:cNvPr id="16" name="TextBox 15"/>
          <p:cNvSpPr txBox="1"/>
          <p:nvPr/>
        </p:nvSpPr>
        <p:spPr>
          <a:xfrm>
            <a:off x="548640" y="6263640"/>
            <a:ext cx="10972800" cy="365760"/>
          </a:xfrm>
          <a:prstGeom prst="rect">
            <a:avLst/>
          </a:prstGeom>
          <a:noFill/>
        </p:spPr>
        <p:txBody>
          <a:bodyPr wrap="square">
            <a:spAutoFit/>
          </a:bodyPr>
          <a:lstStyle/>
          <a:p>
            <a:pPr>
              <a:spcAft>
                <a:spcPts val="800"/>
              </a:spcAft>
            </a:pPr>
            <a:r>
              <a:rPr sz="1200" b="0">
                <a:solidFill>
                  <a:srgbClr val="64748B"/>
                </a:solidFill>
                <a:latin typeface="Calibri"/>
              </a:rPr>
              <a:t>Directional only: the data has no marketing cost, channel or margin information.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800"/>
              </a:spcAft>
            </a:pPr>
            <a:r>
              <a:rPr sz="1100" b="1">
                <a:solidFill>
                  <a:srgbClr val="1D4ED8"/>
                </a:solidFill>
                <a:latin typeface="Calibri"/>
              </a:rPr>
              <a:t>HOW TO READ THESE RESULTS</a:t>
            </a:r>
          </a:p>
        </p:txBody>
      </p:sp>
      <p:sp>
        <p:nvSpPr>
          <p:cNvPr id="3" name="TextBox 2"/>
          <p:cNvSpPr txBox="1"/>
          <p:nvPr/>
        </p:nvSpPr>
        <p:spPr>
          <a:xfrm>
            <a:off x="548640" y="640080"/>
            <a:ext cx="11064240" cy="731520"/>
          </a:xfrm>
          <a:prstGeom prst="rect">
            <a:avLst/>
          </a:prstGeom>
          <a:noFill/>
        </p:spPr>
        <p:txBody>
          <a:bodyPr wrap="square">
            <a:spAutoFit/>
          </a:bodyPr>
          <a:lstStyle/>
          <a:p>
            <a:pPr>
              <a:spcAft>
                <a:spcPts val="800"/>
              </a:spcAft>
            </a:pPr>
            <a:r>
              <a:rPr sz="2800" b="1">
                <a:solidFill>
                  <a:srgbClr val="0F172A"/>
                </a:solidFill>
                <a:latin typeface="Calibri"/>
              </a:rPr>
              <a:t>Method and limitations</a:t>
            </a:r>
          </a:p>
        </p:txBody>
      </p:sp>
      <p:sp>
        <p:nvSpPr>
          <p:cNvPr id="4" name="TextBox 3"/>
          <p:cNvSpPr txBox="1"/>
          <p:nvPr/>
        </p:nvSpPr>
        <p:spPr>
          <a:xfrm>
            <a:off x="548640" y="1554480"/>
            <a:ext cx="5394960" cy="4846320"/>
          </a:xfrm>
          <a:prstGeom prst="rect">
            <a:avLst/>
          </a:prstGeom>
          <a:noFill/>
        </p:spPr>
        <p:txBody>
          <a:bodyPr wrap="square">
            <a:spAutoFit/>
          </a:bodyPr>
          <a:lstStyle/>
          <a:p>
            <a:pPr>
              <a:spcAft>
                <a:spcPts val="800"/>
              </a:spcAft>
            </a:pPr>
            <a:r>
              <a:rPr sz="1400" b="1">
                <a:solidFill>
                  <a:srgbClr val="1E293B"/>
                </a:solidFill>
                <a:latin typeface="Calibri"/>
              </a:rPr>
              <a:t>Data. </a:t>
            </a:r>
            <a:r>
              <a:rPr sz="1400" b="0">
                <a:solidFill>
                  <a:srgbClr val="1E293B"/>
                </a:solidFill>
                <a:latin typeface="Calibri"/>
              </a:rPr>
              <a:t>1,067,371 raw rows reduced to 805,549 after removing rows without a customer ID, cancelled invoices and non-positive quantities or prices.</a:t>
            </a:r>
          </a:p>
          <a:p>
            <a:pPr>
              <a:spcAft>
                <a:spcPts val="800"/>
              </a:spcAft>
            </a:pPr>
            <a:r>
              <a:rPr sz="1400" b="1">
                <a:solidFill>
                  <a:srgbClr val="1E293B"/>
                </a:solidFill>
                <a:latin typeface="Calibri"/>
              </a:rPr>
              <a:t>Cohorts. </a:t>
            </a:r>
            <a:r>
              <a:rPr sz="1400" b="0">
                <a:solidFill>
                  <a:srgbClr val="1E293B"/>
                </a:solidFill>
                <a:latin typeface="Calibri"/>
              </a:rPr>
              <a:t>Customers grouped by first-order month; retention is the share ordering again in each later month.</a:t>
            </a:r>
          </a:p>
          <a:p>
            <a:pPr>
              <a:spcAft>
                <a:spcPts val="800"/>
              </a:spcAft>
            </a:pPr>
            <a:r>
              <a:rPr sz="1400" b="1">
                <a:solidFill>
                  <a:srgbClr val="1E293B"/>
                </a:solidFill>
                <a:latin typeface="Calibri"/>
              </a:rPr>
              <a:t>RFM. </a:t>
            </a:r>
            <a:r>
              <a:rPr sz="1400" b="0">
                <a:solidFill>
                  <a:srgbClr val="1E293B"/>
                </a:solidFill>
                <a:latin typeface="Calibri"/>
              </a:rPr>
              <a:t>Recency, frequency and monetary value scored 1 to 5 by quintile, reference date 10 December 2011.</a:t>
            </a:r>
          </a:p>
          <a:p>
            <a:pPr>
              <a:spcAft>
                <a:spcPts val="800"/>
              </a:spcAft>
            </a:pPr>
            <a:r>
              <a:rPr sz="1400" b="1">
                <a:solidFill>
                  <a:srgbClr val="1E293B"/>
                </a:solidFill>
                <a:latin typeface="Calibri"/>
              </a:rPr>
              <a:t>Tools. </a:t>
            </a:r>
            <a:r>
              <a:rPr sz="1400" b="0">
                <a:solidFill>
                  <a:srgbClr val="1E293B"/>
                </a:solidFill>
                <a:latin typeface="Calibri"/>
              </a:rPr>
              <a:t>Python (pandas) for cleaning and scoring, SQLite for the SQL views, Tableau and matplotlib for charts.</a:t>
            </a:r>
          </a:p>
        </p:txBody>
      </p:sp>
      <p:sp>
        <p:nvSpPr>
          <p:cNvPr id="5" name="TextBox 4"/>
          <p:cNvSpPr txBox="1"/>
          <p:nvPr/>
        </p:nvSpPr>
        <p:spPr>
          <a:xfrm>
            <a:off x="6309360" y="1554480"/>
            <a:ext cx="5394960" cy="4846320"/>
          </a:xfrm>
          <a:prstGeom prst="rect">
            <a:avLst/>
          </a:prstGeom>
          <a:noFill/>
        </p:spPr>
        <p:txBody>
          <a:bodyPr wrap="square">
            <a:spAutoFit/>
          </a:bodyPr>
          <a:lstStyle/>
          <a:p>
            <a:pPr>
              <a:spcAft>
                <a:spcPts val="800"/>
              </a:spcAft>
            </a:pPr>
            <a:r>
              <a:rPr sz="1400" b="0">
                <a:solidFill>
                  <a:srgbClr val="1E293B"/>
                </a:solidFill>
                <a:latin typeface="Calibri"/>
              </a:rPr>
              <a:t>The dataset has no marketing cost, acquisition channel or margin data, so recommendations cannot be costed. The 25% CAC increase comes from the project brief, not from the data.</a:t>
            </a:r>
          </a:p>
          <a:p>
            <a:pPr>
              <a:spcAft>
                <a:spcPts val="800"/>
              </a:spcAft>
            </a:pPr>
            <a:r>
              <a:rPr sz="1400" b="0">
                <a:solidFill>
                  <a:srgbClr val="1E293B"/>
                </a:solidFill>
                <a:latin typeface="Calibri"/>
              </a:rPr>
              <a:t>Rows without a customer ID (about a quarter of the raw data) are excluded; revenue covers identified customers only.</a:t>
            </a:r>
          </a:p>
          <a:p>
            <a:pPr>
              <a:spcAft>
                <a:spcPts val="800"/>
              </a:spcAft>
            </a:pPr>
            <a:r>
              <a:rPr sz="1400" b="0">
                <a:solidFill>
                  <a:srgbClr val="1E293B"/>
                </a:solidFill>
                <a:latin typeface="Calibri"/>
              </a:rPr>
              <a:t>The December 2009 cohort retains much better than the rest (35% in month 1) because the data starts that month, so it includes customers who were already buying before.</a:t>
            </a:r>
          </a:p>
          <a:p>
            <a:pPr>
              <a:spcAft>
                <a:spcPts val="800"/>
              </a:spcAft>
            </a:pPr>
            <a:r>
              <a:rPr sz="1400" b="0">
                <a:solidFill>
                  <a:srgbClr val="1E293B"/>
                </a:solidFill>
                <a:latin typeface="Calibri"/>
              </a:rPr>
              <a:t>The data ends on 9 December 2011, so recent cohorts have only a few months of history.</a:t>
            </a:r>
          </a:p>
          <a:p>
            <a:pPr>
              <a:spcAft>
                <a:spcPts val="800"/>
              </a:spcAft>
            </a:pPr>
            <a:r>
              <a:rPr sz="1400" b="0">
                <a:solidFill>
                  <a:srgbClr val="1E293B"/>
                </a:solidFill>
                <a:latin typeface="Calibri"/>
              </a:rPr>
              <a:t>RFM segments depend on the chosen score thresholds; different cut-offs would move some customers between segments.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