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188720"/>
            <a:ext cx="97840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1">
                <a:solidFill>
                  <a:srgbClr val="2563EB"/>
                </a:solidFill>
              </a:defRPr>
            </a:pPr>
            <a:r>
              <a:t>PORTFOLIO CASE STUDY • RETAIL &amp; E-COMMERCE ANALYTICS</a:t>
            </a:r>
          </a:p>
          <a:p>
            <a:pPr>
              <a:spcAft>
                <a:spcPts val="1000"/>
              </a:spcAft>
              <a:defRPr sz="3000" b="1">
                <a:solidFill>
                  <a:srgbClr val="0F172A"/>
                </a:solidFill>
              </a:defRPr>
            </a:pPr>
            <a:r>
              <a:t>Customer Segmentation &amp; Cohort Retention Optimization</a:t>
            </a:r>
          </a:p>
          <a:p>
            <a:pPr>
              <a:spcAft>
                <a:spcPts val="2000"/>
              </a:spcAft>
              <a:defRPr sz="1300">
                <a:solidFill>
                  <a:srgbClr val="64748B"/>
                </a:solidFill>
              </a:defRPr>
            </a:pPr>
            <a:r>
              <a:t>Tackling a 25% Surge in Customer Acquisition Costs (CAC) via Behavioral RFM Modeling, Month-1 Churn Diagnostics, and Strategic Lifecycle Marketing.</a:t>
            </a:r>
          </a:p>
          <a:p>
            <a:pPr>
              <a:defRPr sz="1000" b="1">
                <a:solidFill>
                  <a:srgbClr val="334155"/>
                </a:solidFill>
              </a:defRPr>
            </a:pPr>
            <a:r>
              <a:t>Author: Novaldi Ramadhan Waluyo (Data Analyst)   |   Stakeholders: CMO, CRM Lead, Product Growth Manager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4617720"/>
            <a:ext cx="233172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TOTAL REVENUE</a:t>
            </a:r>
          </a:p>
          <a:p>
            <a:pPr algn="ctr">
              <a:defRPr sz="1800" b="1">
                <a:solidFill>
                  <a:srgbClr val="2563EB"/>
                </a:solidFill>
              </a:defRPr>
            </a:pPr>
            <a:r>
              <a:t>£17.74M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75888" y="4617720"/>
            <a:ext cx="233172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CLEANED TRANSACTIONS</a:t>
            </a:r>
          </a:p>
          <a:p>
            <a:pPr algn="ctr">
              <a:defRPr sz="1800" b="1">
                <a:solidFill>
                  <a:srgbClr val="10B981"/>
                </a:solidFill>
              </a:defRPr>
            </a:pPr>
            <a:r>
              <a:t>805.5K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63056" y="4617720"/>
            <a:ext cx="233172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UNIQUE CUSTOMERS</a:t>
            </a:r>
          </a:p>
          <a:p>
            <a:pPr algn="ctr">
              <a:defRPr sz="1800" b="1">
                <a:solidFill>
                  <a:srgbClr val="0F172A"/>
                </a:solidFill>
              </a:defRPr>
            </a:pPr>
            <a:r>
              <a:t>5,878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50224" y="4617720"/>
            <a:ext cx="233172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NOT BACK IN MONTH 1</a:t>
            </a:r>
          </a:p>
          <a:p>
            <a:pPr algn="ctr">
              <a:defRPr sz="1800" b="1">
                <a:solidFill>
                  <a:srgbClr val="E11D48"/>
                </a:solidFill>
              </a:defRPr>
            </a:pPr>
            <a:r>
              <a:t>76.9%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2563EB"/>
                </a:solidFill>
              </a:defRPr>
            </a:pPr>
            <a:r>
              <a:t>EXECUTIVE DATA ANALYTICS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Executive Scorecard &amp; Strategic 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2542032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t>TOTAL REVENUE</a:t>
            </a:r>
          </a:p>
          <a:p>
            <a:pPr>
              <a:spcBef>
                <a:spcPts val="200"/>
              </a:spcBef>
              <a:defRPr sz="1900" b="1">
                <a:solidFill>
                  <a:srgbClr val="2563EB"/>
                </a:solidFill>
              </a:defRPr>
            </a:pPr>
            <a:r>
              <a:t>£17.74M</a:t>
            </a:r>
          </a:p>
          <a:p>
            <a:pPr>
              <a:spcBef>
                <a:spcPts val="200"/>
              </a:spcBef>
              <a:defRPr sz="750">
                <a:solidFill>
                  <a:srgbClr val="64748B"/>
                </a:solidFill>
              </a:defRPr>
            </a:pPr>
            <a:r>
              <a:t>36,969 orders, Dec 2009 - Dec 2011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34440"/>
            <a:ext cx="2542032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t>REGISTERED CUSTOMERS</a:t>
            </a:r>
          </a:p>
          <a:p>
            <a:pPr>
              <a:spcBef>
                <a:spcPts val="200"/>
              </a:spcBef>
              <a:defRPr sz="1900" b="1">
                <a:solidFill>
                  <a:srgbClr val="0F172A"/>
                </a:solidFill>
              </a:defRPr>
            </a:pPr>
            <a:r>
              <a:t>5,878</a:t>
            </a:r>
          </a:p>
          <a:p>
            <a:pPr>
              <a:spcBef>
                <a:spcPts val="200"/>
              </a:spcBef>
              <a:defRPr sz="750">
                <a:solidFill>
                  <a:srgbClr val="64748B"/>
                </a:solidFill>
              </a:defRPr>
            </a:pPr>
            <a:r>
              <a:t>41 countries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34440"/>
            <a:ext cx="2542032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t>MONTH-1 RETENTION</a:t>
            </a:r>
          </a:p>
          <a:p>
            <a:pPr>
              <a:spcBef>
                <a:spcPts val="200"/>
              </a:spcBef>
              <a:defRPr sz="1900" b="1">
                <a:solidFill>
                  <a:srgbClr val="E11D48"/>
                </a:solidFill>
              </a:defRPr>
            </a:pPr>
            <a:r>
              <a:t>23.1%</a:t>
            </a:r>
          </a:p>
          <a:p>
            <a:pPr>
              <a:spcBef>
                <a:spcPts val="200"/>
              </a:spcBef>
              <a:defRPr sz="750">
                <a:solidFill>
                  <a:srgbClr val="64748B"/>
                </a:solidFill>
              </a:defRPr>
            </a:pPr>
            <a:r>
              <a:t>Steepest drop-off in the lifecycle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34440"/>
            <a:ext cx="2542032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t>CHAMPIONS + LOYAL REVENUE</a:t>
            </a:r>
          </a:p>
          <a:p>
            <a:pPr>
              <a:spcBef>
                <a:spcPts val="200"/>
              </a:spcBef>
              <a:defRPr sz="1900" b="1">
                <a:solidFill>
                  <a:srgbClr val="10B981"/>
                </a:solidFill>
              </a:defRPr>
            </a:pPr>
            <a:r>
              <a:t>84.7%</a:t>
            </a:r>
          </a:p>
          <a:p>
            <a:pPr>
              <a:spcBef>
                <a:spcPts val="200"/>
              </a:spcBef>
              <a:defRPr sz="750">
                <a:solidFill>
                  <a:srgbClr val="64748B"/>
                </a:solidFill>
              </a:defRPr>
            </a:pPr>
            <a:r>
              <a:t>From 43.1% of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5230368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800"/>
              </a:spcAft>
              <a:defRPr sz="1100" b="1">
                <a:solidFill>
                  <a:srgbClr val="E11D48"/>
                </a:solidFill>
              </a:defRPr>
            </a:pPr>
            <a:r>
              <a:t>BUSINESS PROBLEM &amp; VULNERABILITY DIAGNOSIS</a:t>
            </a:r>
          </a:p>
          <a:p>
            <a:pPr>
              <a:spcBef>
                <a:spcPts val="600"/>
              </a:spcBef>
              <a:defRPr b="1" sz="950">
                <a:solidFill>
                  <a:srgbClr val="0F172A"/>
                </a:solidFill>
              </a:defRPr>
            </a:pPr>
            <a:r>
              <a:t>• Surging Acquisition Costs (+25% CAC):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Rising ad channel costs mean acquiring one-off buyers severely damages long-term profitability.</a:t>
            </a:r>
          </a:p>
          <a:p>
            <a:pPr>
              <a:spcBef>
                <a:spcPts val="600"/>
              </a:spcBef>
              <a:defRPr b="1" sz="950">
                <a:solidFill>
                  <a:srgbClr val="0F172A"/>
                </a:solidFill>
              </a:defRPr>
            </a:pPr>
            <a:r>
              <a:t>• Inefficient Blanket Discounting: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Mass promo discounts eroded profit margins without driving repeat loyalty or sustainable habit formation.</a:t>
            </a:r>
          </a:p>
          <a:p>
            <a:pPr>
              <a:spcBef>
                <a:spcPts val="600"/>
              </a:spcBef>
              <a:defRPr b="1" sz="950">
                <a:solidFill>
                  <a:srgbClr val="0F172A"/>
                </a:solidFill>
              </a:defRPr>
            </a:pPr>
            <a:r>
              <a:t>• The Month-1 Cliff (76.9% not back):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Roughly three in four new customers do not buy again in the month after their first order.</a:t>
            </a:r>
          </a:p>
          <a:p>
            <a:pPr>
              <a:spcBef>
                <a:spcPts val="600"/>
              </a:spcBef>
              <a:defRPr b="1" sz="950">
                <a:solidFill>
                  <a:srgbClr val="0F172A"/>
                </a:solidFill>
              </a:defRPr>
            </a:pPr>
            <a:r>
              <a:t>• Silent VIP Value Decay: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683 once-valuable customers (£1.71M historical revenue) have drifted into At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2514600"/>
            <a:ext cx="5230368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800"/>
              </a:spcAft>
              <a:defRPr sz="1100" b="1">
                <a:solidFill>
                  <a:srgbClr val="2563EB"/>
                </a:solidFill>
              </a:defRPr>
            </a:pPr>
            <a:r>
              <a:t>STRATEGIC OBJECTIVES &amp; REMEDIATION GOALS</a:t>
            </a:r>
          </a:p>
          <a:p>
            <a:pPr>
              <a:spcBef>
                <a:spcPts val="600"/>
              </a:spcBef>
              <a:defRPr b="1" sz="950">
                <a:solidFill>
                  <a:srgbClr val="0F172A"/>
                </a:solidFill>
              </a:defRPr>
            </a:pPr>
            <a:r>
              <a:t>• Reallocate 20% Budget to Retention: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Shift paid media budget from low-intent cold ads to high-ROI automated post-purchase flows.</a:t>
            </a:r>
          </a:p>
          <a:p>
            <a:pPr>
              <a:spcBef>
                <a:spcPts val="600"/>
              </a:spcBef>
              <a:defRPr b="1" sz="950">
                <a:solidFill>
                  <a:srgbClr val="0F172A"/>
                </a:solidFill>
              </a:defRPr>
            </a:pPr>
            <a:r>
              <a:t>• Eliminate Blanket Promo Discounts: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Preserve margin by replacing general discounts with VIP perks for Champions and win-back offers for At-Risk.</a:t>
            </a:r>
          </a:p>
          <a:p>
            <a:pPr>
              <a:spcBef>
                <a:spcPts val="600"/>
              </a:spcBef>
              <a:defRPr b="1" sz="950">
                <a:solidFill>
                  <a:srgbClr val="0F172A"/>
                </a:solidFill>
              </a:defRPr>
            </a:pPr>
            <a:r>
              <a:t>• Bridge the Month-1 Gap: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Send new buyers personalised category recommendations within 14 days of their first order.</a:t>
            </a:r>
          </a:p>
          <a:p>
            <a:pPr>
              <a:spcBef>
                <a:spcPts val="600"/>
              </a:spcBef>
              <a:defRPr b="1" sz="950">
                <a:solidFill>
                  <a:srgbClr val="0F172A"/>
                </a:solidFill>
              </a:defRPr>
            </a:pPr>
            <a:r>
              <a:t>• Track Retention in Power BI: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Give growth teams a dashboard for month-1 retention, cohort curves and segment shifts.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2563EB"/>
                </a:solidFill>
              </a:defRPr>
            </a:pPr>
            <a:r>
              <a:t>EXECUTIVE DATA ANALYTICS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Cohort Retention Analysis: Mapping the Month-1 Churn Cliff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6858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_cohort_reten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371600"/>
            <a:ext cx="6583680" cy="360394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234440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91440"/>
          <a:lstStyle/>
          <a:p>
            <a:pPr algn="ctr">
              <a:spcAft>
                <a:spcPts val="400"/>
              </a:spcAft>
              <a:defRPr sz="950" b="1">
                <a:solidFill>
                  <a:srgbClr val="E11D48"/>
                </a:solidFill>
              </a:defRPr>
            </a:pPr>
            <a:r>
              <a:t>THE MONTH-1 CLIFF (23.1% RETAINED)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Only 23.1% of new customers buy again in the month after their first order (customer-weighted across all cohorts).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990088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91440"/>
          <a:lstStyle/>
          <a:p>
            <a:pPr algn="ctr">
              <a:spcAft>
                <a:spcPts val="400"/>
              </a:spcAft>
              <a:defRPr sz="950" b="1">
                <a:solidFill>
                  <a:srgbClr val="2563EB"/>
                </a:solidFill>
              </a:defRPr>
            </a:pPr>
            <a:r>
              <a:t>FLAT AFTER THE CLIFF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Retention then holds between 19.0% and 24.5% from month 1 to month 12, so the second purchase is the main lever.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4745736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91440"/>
          <a:lstStyle/>
          <a:p>
            <a:pPr algn="ctr">
              <a:spcAft>
                <a:spcPts val="400"/>
              </a:spcAft>
              <a:defRPr sz="950" b="1">
                <a:solidFill>
                  <a:srgbClr val="D97706"/>
                </a:solidFill>
              </a:defRPr>
            </a:pPr>
            <a:r>
              <a:t>HOLIDAY COHORTS RETAIN WORST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Customers first acquired in Nov 2010 (17.5%) and Dec 2010 (9.2%) came back far less in month 1. Follow up within 30 days.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2563EB"/>
                </a:solidFill>
              </a:defRPr>
            </a:pPr>
            <a:r>
              <a:t>EXECUTIVE DATA ANALYTICS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RFM Behavioral Segmentation: Pareto Concentration &amp; Tiers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6858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rfm_revenue_vs_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371600"/>
            <a:ext cx="6583680" cy="339159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234440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91440"/>
          <a:lstStyle/>
          <a:p>
            <a:pPr algn="ctr"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CHAMPIONS (69.0% REVENUE | 22.5% CUSTOMERS)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1,324 customers generate £12.24M with 16.9 orders on average (£9,246 spend). Action: VIP perks and early access, no discounts.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990088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91440"/>
          <a:lstStyle/>
          <a:p>
            <a:pPr algn="ctr">
              <a:spcAft>
                <a:spcPts val="400"/>
              </a:spcAft>
              <a:defRPr sz="950" b="1">
                <a:solidFill>
                  <a:srgbClr val="2563EB"/>
                </a:solidFill>
              </a:defRPr>
            </a:pPr>
            <a:r>
              <a:t>LOYAL &amp; POTENTIAL (17.4% REVENUE)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1,842 customers contributing £3.09M. Action: loyalty milestones and cross-category recommendations.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4745736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91440"/>
          <a:lstStyle/>
          <a:p>
            <a:pPr algn="ctr">
              <a:spcAft>
                <a:spcPts val="400"/>
              </a:spcAft>
              <a:defRPr sz="950" b="1">
                <a:solidFill>
                  <a:srgbClr val="D97706"/>
                </a:solidFill>
              </a:defRPr>
            </a:pPr>
            <a:r>
              <a:t>AT RISK (9.6% REVENUE)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683 customers averaging £2,501 spend, last order ~364 days ago (£1.71M historical revenue). Action: targeted win-back offers.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2563EB"/>
                </a:solidFill>
              </a:defRPr>
            </a:pPr>
            <a:r>
              <a:t>EXECUTIVE DATA ANALYTICS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Monthly Revenue &amp; Order Volume Dynamics (2009 - 2011)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6858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monthly_revenue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371600"/>
            <a:ext cx="6583680" cy="339159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234440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91440"/>
          <a:lstStyle/>
          <a:p>
            <a:pPr algn="ctr">
              <a:spcAft>
                <a:spcPts val="400"/>
              </a:spcAft>
              <a:defRPr sz="950" b="1">
                <a:solidFill>
                  <a:srgbClr val="2563EB"/>
                </a:solidFill>
              </a:defRPr>
            </a:pPr>
            <a:r>
              <a:t>Q4 PEAK (~£1.2M / MONTH)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Revenue climbs from September and peaks in November in both years, roughly twice the Q1 monthly level.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990088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91440"/>
          <a:lstStyle/>
          <a:p>
            <a:pPr algn="ctr">
              <a:spcAft>
                <a:spcPts val="400"/>
              </a:spcAft>
              <a:defRPr sz="950" b="1">
                <a:solidFill>
                  <a:srgbClr val="D97706"/>
                </a:solidFill>
              </a:defRPr>
            </a:pPr>
            <a:r>
              <a:t>POST-HOLIDAY RE-ENGAGEMENT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Holiday first-time buyers retain worst, so a January re-engagement flow keeps them from becoming Hibernating.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4745736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91440"/>
          <a:lstStyle/>
          <a:p>
            <a:pPr algn="ctr"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DECEMBER 2011 IS PARTIAL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The data ends on 9 Dec 2011, so the final drop is a cut-off, not a decline. Average order value over the period: £480.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2563EB"/>
                </a:solidFill>
              </a:defRPr>
            </a:pPr>
            <a:r>
              <a:t>EXECUTIVE DATA ANALYTICS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3-Pillar Stakeholder Strategic Playbook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4564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37160"/>
          <a:lstStyle/>
          <a:p>
            <a:pPr algn="ctr">
              <a:spcAft>
                <a:spcPts val="800"/>
              </a:spcAft>
              <a:defRPr sz="1050" b="1">
                <a:solidFill>
                  <a:srgbClr val="2563EB"/>
                </a:solidFill>
              </a:defRPr>
            </a:pPr>
            <a:r>
              <a:t>HEAD OF MARKETING / CMO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Reallocate 20% Ad Budget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Shift media spend from low-intent cold search/social to automated lifecycle retention flows.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Eliminate Public Discounting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Stop blanket promo codes; protect product prestige and gross profit margins.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Tiered Promo Strategy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Provide exclusive VIP previews to Champions; reserve financial incentives strictly for At-Risk win-back.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Measure with Holdout Tests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Run each change against a control group to measure its real effect on repeat revenue and CAC.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1688" y="1234440"/>
            <a:ext cx="34564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37160"/>
          <a:lstStyle/>
          <a:p>
            <a:pPr algn="ctr">
              <a:spcAft>
                <a:spcPts val="800"/>
              </a:spcAft>
              <a:defRPr sz="1050" b="1">
                <a:solidFill>
                  <a:srgbClr val="D97706"/>
                </a:solidFill>
              </a:defRPr>
            </a:pPr>
            <a:r>
              <a:t>CRM &amp; RETENTION LEAD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14-Day Post-Purchase Trigger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Deploy automated onboarding emails offering cross-category complements based on 1st order SKU.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60-Day Inactivity Warning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Trigger automated high-urgency win-back sequence before customer recency exceeds 180 days.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Multi-Channel Orchestration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Deliver high-touch SMS/WhatsApp for urgent At-Risk accounts and weekly curated digests for Loyalists.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Dynamic RFM Scoring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Recalculate customer segments weekly to detect segment transitions in real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91856" y="1234440"/>
            <a:ext cx="34564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37160"/>
          <a:lstStyle/>
          <a:p>
            <a:pPr algn="ctr">
              <a:spcAft>
                <a:spcPts val="800"/>
              </a:spcAft>
              <a:defRPr sz="1050" b="1">
                <a:solidFill>
                  <a:srgbClr val="10B981"/>
                </a:solidFill>
              </a:defRPr>
            </a:pPr>
            <a:r>
              <a:t>PRODUCT &amp; GROWTH MANAGER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Tiered Loyalty Program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Implement Bronze, Silver, Gold, Platinum tiers with tangible milestone rewards on 3rd &amp; 5th orders.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1-Click Frictionless Reorder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Add instant reorder buttons on order history pages for high-frequency consumable items.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Power BI Retention Dashboard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Monitor month-1 retention, cohort curves and segment shifts in the three-page Power BI report.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Cross-Sell Recommendation Engine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Deploy intelligent recommendation widgets during checkout based on product affinity rules.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2563EB"/>
                </a:solidFill>
              </a:defRPr>
            </a:pPr>
            <a:r>
              <a:t>EXECUTIVE DATA ANALYTICS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Technical Architecture &amp; Automated Data Infrastructure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25420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37160"/>
          <a:lstStyle/>
          <a:p>
            <a:pPr algn="ctr">
              <a:spcAft>
                <a:spcPts val="1000"/>
              </a:spcAft>
              <a:defRPr sz="950" b="1">
                <a:solidFill>
                  <a:srgbClr val="2563EB"/>
                </a:solidFill>
              </a:defRPr>
            </a:pPr>
            <a:r>
              <a:t>1. DATA EXTRACTION &amp; CLEANING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Processed 1.07M raw Excel lines across 2 yearly sheets.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Removed cancellations ('C'), returns, zero prices and guest checkouts.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Kept 805,549 line items, £17.74M revenue.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34440"/>
            <a:ext cx="25420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37160"/>
          <a:lstStyle/>
          <a:p>
            <a:pPr algn="ctr">
              <a:spcAft>
                <a:spcPts val="1000"/>
              </a:spcAft>
              <a:defRPr sz="950" b="1">
                <a:solidFill>
                  <a:srgbClr val="0F172A"/>
                </a:solidFill>
              </a:defRPr>
            </a:pPr>
            <a:r>
              <a:t>2. SQL &amp; ANALYTICAL MODELING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Built SQLite schema (`online_retail_analytics.db`).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Engineered RFM scores (`NTILE(5)`) and Cohort Index offsets.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Created indexed views: `v_rfm_summary`, `v_monthly_sales_trend`.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34440"/>
            <a:ext cx="25420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37160"/>
          <a:lstStyle/>
          <a:p>
            <a:pPr algn="ctr">
              <a:spcAft>
                <a:spcPts val="1000"/>
              </a:spcAft>
              <a:defRPr sz="950" b="1">
                <a:solidFill>
                  <a:srgbClr val="10B981"/>
                </a:solidFill>
              </a:defRPr>
            </a:pPr>
            <a:r>
              <a:t>3. POWER BI &amp; TABLEAU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Power BI star schema, DAX measures and theme in `/powerbi/`.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Three-page dashboard: Overview, Cohort Retention, RFM Segments.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Tableau data source (`.tds`) for a live SQLite connection via ODBC.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34440"/>
            <a:ext cx="25420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 bIns="137160"/>
          <a:lstStyle/>
          <a:p>
            <a:pPr algn="ctr">
              <a:spcAft>
                <a:spcPts val="1000"/>
              </a:spcAft>
              <a:defRPr sz="950" b="1">
                <a:solidFill>
                  <a:srgbClr val="D97706"/>
                </a:solidFill>
              </a:defRPr>
            </a:pPr>
            <a:r>
              <a:t>4. REPRODUCIBLE ARTIFACTS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Production SQL scripts in `/sql/` directory.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All figures computed in `src/report_metrics.py`.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High-resolution 300 DPI visualizations &amp; detailed PDF briefing.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